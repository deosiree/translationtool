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58" r:id="rId3"/>
  </p:sldMasterIdLst>
  <p:notesMasterIdLst>
    <p:notesMasterId r:id="rId5"/>
  </p:notesMasterIdLst>
  <p:handoutMasterIdLst>
    <p:handoutMasterId r:id="rId30"/>
  </p:handoutMasterIdLst>
  <p:sldIdLst>
    <p:sldId id="715" r:id="rId4"/>
    <p:sldId id="1073" r:id="rId6"/>
    <p:sldId id="970" r:id="rId7"/>
    <p:sldId id="1190" r:id="rId8"/>
    <p:sldId id="971" r:id="rId9"/>
    <p:sldId id="1075" r:id="rId10"/>
    <p:sldId id="1023" r:id="rId11"/>
    <p:sldId id="1076" r:id="rId12"/>
    <p:sldId id="1077" r:id="rId13"/>
    <p:sldId id="1078" r:id="rId14"/>
    <p:sldId id="1079" r:id="rId15"/>
    <p:sldId id="1211" r:id="rId16"/>
    <p:sldId id="1210" r:id="rId17"/>
    <p:sldId id="1080" r:id="rId18"/>
    <p:sldId id="1097" r:id="rId19"/>
    <p:sldId id="1192" r:id="rId20"/>
    <p:sldId id="1191" r:id="rId21"/>
    <p:sldId id="1186" r:id="rId22"/>
    <p:sldId id="1212" r:id="rId23"/>
    <p:sldId id="1193" r:id="rId24"/>
    <p:sldId id="1091" r:id="rId25"/>
    <p:sldId id="1092" r:id="rId26"/>
    <p:sldId id="1093" r:id="rId27"/>
    <p:sldId id="1094" r:id="rId28"/>
    <p:sldId id="1095" r:id="rId29"/>
  </p:sldIdLst>
  <p:sldSz cx="9144000" cy="6858000" type="screen4x3"/>
  <p:notesSz cx="6858000" cy="9144000"/>
  <p:custDataLst>
    <p:tags r:id="rId35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292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ingchun Chen" initials="yC" lastIdx="1" clrIdx="0"/>
  <p:cmAuthor id="2" name="liugm" initials="l" lastIdx="9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FF00"/>
    <a:srgbClr val="660033"/>
    <a:srgbClr val="CC9900"/>
    <a:srgbClr val="FF9900"/>
    <a:srgbClr val="996633"/>
    <a:srgbClr val="CC00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22"/>
    <p:restoredTop sz="97041"/>
  </p:normalViewPr>
  <p:slideViewPr>
    <p:cSldViewPr showGuides="1">
      <p:cViewPr varScale="1">
        <p:scale>
          <a:sx n="106" d="100"/>
          <a:sy n="106" d="100"/>
        </p:scale>
        <p:origin x="462" y="108"/>
      </p:cViewPr>
      <p:guideLst>
        <p:guide orient="horz" pos="2154"/>
        <p:guide pos="292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5" Type="http://schemas.openxmlformats.org/officeDocument/2006/relationships/tags" Target="tags/tag31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ClrTx/>
              <a:buFontTx/>
              <a:buNone/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ClrTx/>
              <a:buFontTx/>
              <a:buNone/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ClrTx/>
              <a:buFontTx/>
              <a:buNone/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ClrTx/>
              <a:buFontTx/>
              <a:buNone/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ClrTx/>
              <a:buFontTx/>
              <a:buNone/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2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ClrTx/>
              <a:buFontTx/>
              <a:buNone/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4915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b="1" dirty="0"/>
              <a:t>模板版本信息：</a:t>
            </a:r>
            <a:endParaRPr lang="zh-CN" altLang="en-US" b="1" dirty="0"/>
          </a:p>
          <a:p>
            <a:pPr lvl="0" eaLnBrk="1" hangingPunct="1"/>
            <a:r>
              <a:rPr lang="zh-CN" altLang="en-US" b="1" dirty="0"/>
              <a:t>版本		日期		作者		更新内容</a:t>
            </a:r>
            <a:endParaRPr lang="zh-CN" altLang="en-US" b="1" dirty="0"/>
          </a:p>
          <a:p>
            <a:pPr lvl="0" eaLnBrk="1" hangingPunct="1"/>
            <a:r>
              <a:rPr lang="zh-CN" altLang="en-US" dirty="0"/>
              <a:t>1</a:t>
            </a:r>
            <a:r>
              <a:rPr lang="en-US" altLang="zh-CN" dirty="0"/>
              <a:t>.0		2012.10.8				</a:t>
            </a:r>
            <a:r>
              <a:rPr lang="zh-CN" altLang="en-US" dirty="0"/>
              <a:t>发布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501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5A4B23-A5F9-4600-ADAE-F87F0C1D093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7" descr="封底照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" y="3276600"/>
            <a:ext cx="2959100" cy="2743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图片 8" descr="公司大楼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3276600"/>
            <a:ext cx="3352800" cy="2743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图片 10" descr="2c27d71a3b3d104ac1bd5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3276600"/>
            <a:ext cx="2819400" cy="2743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685800"/>
            <a:ext cx="7772400" cy="1219200"/>
          </a:xfrm>
          <a:prstGeom prst="rect">
            <a:avLst/>
          </a:prstGeom>
        </p:spPr>
        <p:txBody>
          <a:bodyPr/>
          <a:lstStyle>
            <a:lvl1pPr algn="ctr">
              <a:defRPr sz="4400">
                <a:solidFill>
                  <a:srgbClr val="000099"/>
                </a:solidFill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057400"/>
            <a:ext cx="6400800" cy="8382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>
                <a:solidFill>
                  <a:srgbClr val="000099"/>
                </a:solidFill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12" name="Rectangle 3"/>
          <p:cNvSpPr>
            <a:spLocks noGrp="1" noChangeArrowheads="1"/>
          </p:cNvSpPr>
          <p:nvPr>
            <p:ph type="ftr" sz="quarter" idx="3"/>
          </p:nvPr>
        </p:nvSpPr>
        <p:spPr>
          <a:xfrm>
            <a:off x="2819400" y="6248400"/>
            <a:ext cx="3810000" cy="476250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Copyright © Sieyuan Electric Co., Ltd. All Rights Reserved. </a:t>
            </a:r>
            <a:r>
              <a: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密级：保密</a:t>
            </a: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左箭头 7"/>
          <p:cNvSpPr>
            <a:spLocks noChangeArrowheads="1"/>
          </p:cNvSpPr>
          <p:nvPr/>
        </p:nvSpPr>
        <p:spPr bwMode="auto">
          <a:xfrm>
            <a:off x="838200" y="2514600"/>
            <a:ext cx="381000" cy="914400"/>
          </a:xfrm>
          <a:prstGeom prst="leftArrow">
            <a:avLst>
              <a:gd name="adj1" fmla="val 50000"/>
              <a:gd name="adj2" fmla="val 50000"/>
            </a:avLst>
          </a:prstGeom>
          <a:noFill/>
          <a:ln>
            <a:noFill/>
          </a:ln>
        </p:spPr>
        <p:txBody>
          <a:bodyPr/>
          <a:lstStyle>
            <a:lvl1pPr marL="342900" indent="-3429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295400"/>
            <a:ext cx="8229600" cy="4572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C00000"/>
              </a:buClr>
              <a:buFont typeface="Wingdings" panose="05000000000000000000" pitchFamily="2" charset="2"/>
              <a:buChar char="u"/>
              <a:defRPr>
                <a:ea typeface="微软雅黑" panose="020B0503020204020204" pitchFamily="34" charset="-122"/>
              </a:defRPr>
            </a:lvl1pPr>
            <a:lvl2pPr>
              <a:buClr>
                <a:srgbClr val="002060"/>
              </a:buCl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5225"/>
            <a:ext cx="1752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fld id="{9A0DB2DC-4C9A-4742-B13C-FB6460FD3503}" type="slidenum">
              <a:rPr lang="en-US" altLang="zh-CN" dirty="0">
                <a:ea typeface="微软雅黑" panose="020B0503020204020204" pitchFamily="34" charset="-122"/>
              </a:rPr>
            </a:fld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ftr" sz="quarter" idx="3"/>
          </p:nvPr>
        </p:nvSpPr>
        <p:spPr>
          <a:xfrm>
            <a:off x="2819400" y="6248400"/>
            <a:ext cx="3810000" cy="476250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Copyright © Sieyuan Electric Co., Ltd. All Rights Reserved. </a:t>
            </a:r>
            <a:r>
              <a: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密级：保密</a:t>
            </a:r>
            <a:endParaRPr kumimoji="0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4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5225"/>
            <a:ext cx="1752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fld id="{9A0DB2DC-4C9A-4742-B13C-FB6460FD3503}" type="slidenum">
              <a:rPr lang="en-US" altLang="zh-CN" dirty="0">
                <a:ea typeface="微软雅黑" panose="020B0503020204020204" pitchFamily="34" charset="-122"/>
              </a:rPr>
            </a:fld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>
            <p:ph type="ftr" sz="quarter" idx="3"/>
          </p:nvPr>
        </p:nvSpPr>
        <p:spPr>
          <a:xfrm>
            <a:off x="2819400" y="6248400"/>
            <a:ext cx="3810000" cy="476250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Copyright © Sieyuan Electric Co., Ltd. All Rights Reserved. </a:t>
            </a: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密级：保密</a:t>
            </a: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" y="152401"/>
            <a:ext cx="6578600" cy="639763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295400"/>
            <a:ext cx="4038600" cy="4572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C00000"/>
              </a:buClr>
              <a:buFont typeface="Wingdings" panose="05000000000000000000" pitchFamily="2" charset="2"/>
              <a:buChar char="u"/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0" y="1295400"/>
            <a:ext cx="4038600" cy="4572000"/>
          </a:xfrm>
          <a:prstGeom prst="rect">
            <a:avLst/>
          </a:prstGeom>
        </p:spPr>
        <p:txBody>
          <a:bodyPr/>
          <a:lstStyle>
            <a:lvl1pPr marL="342900" indent="-342900">
              <a:defRPr lang="zh-CN" altLang="en-US" sz="2800" b="1" dirty="0" smtClean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5225"/>
            <a:ext cx="1752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fld id="{9A0DB2DC-4C9A-4742-B13C-FB6460FD3503}" type="slidenum">
              <a:rPr lang="en-US" altLang="zh-CN" dirty="0">
                <a:ea typeface="微软雅黑" panose="020B0503020204020204" pitchFamily="34" charset="-122"/>
              </a:rPr>
            </a:fld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>
            <p:ph type="ftr" sz="quarter" idx="3"/>
          </p:nvPr>
        </p:nvSpPr>
        <p:spPr>
          <a:xfrm>
            <a:off x="2819400" y="6248400"/>
            <a:ext cx="3810000" cy="476250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Copyright © Sieyuan Electric Co., Ltd. All Rights Reserved. </a:t>
            </a: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密级：保密</a:t>
            </a: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C00000"/>
              </a:buClr>
              <a:buFont typeface="Wingdings" panose="05000000000000000000" pitchFamily="2" charset="2"/>
              <a:buChar char="u"/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  <a:prstGeom prst="rect">
            <a:avLst/>
          </a:prstGeom>
        </p:spPr>
        <p:txBody>
          <a:bodyPr/>
          <a:lstStyle>
            <a:lvl1pPr marL="342900" indent="-342900">
              <a:defRPr lang="zh-CN" altLang="en-US" sz="2400" b="1" dirty="0" smtClean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934200" y="6245225"/>
            <a:ext cx="1752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fld id="{9A0DB2DC-4C9A-4742-B13C-FB6460FD3503}" type="slidenum">
              <a:rPr lang="en-US" altLang="zh-CN" dirty="0">
                <a:ea typeface="微软雅黑" panose="020B0503020204020204" pitchFamily="34" charset="-122"/>
              </a:rPr>
            </a:fld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>
            <p:ph type="ftr" sz="quarter" idx="13"/>
          </p:nvPr>
        </p:nvSpPr>
        <p:spPr>
          <a:xfrm>
            <a:off x="2819400" y="6248400"/>
            <a:ext cx="3810000" cy="476250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Copyright © Sieyuan Electric Co., Ltd. All Rights Reserved. </a:t>
            </a: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密级：保密</a:t>
            </a: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单击图标添加图片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5225"/>
            <a:ext cx="1752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fld id="{9A0DB2DC-4C9A-4742-B13C-FB6460FD3503}" type="slidenum">
              <a:rPr lang="en-US" altLang="zh-CN" dirty="0">
                <a:ea typeface="微软雅黑" panose="020B0503020204020204" pitchFamily="34" charset="-122"/>
              </a:rPr>
            </a:fld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>
            <p:ph type="ftr" sz="quarter" idx="3"/>
          </p:nvPr>
        </p:nvSpPr>
        <p:spPr>
          <a:xfrm>
            <a:off x="2819400" y="6248400"/>
            <a:ext cx="3810000" cy="476250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Copyright © Sieyuan Electric Co., Ltd. All Rights Reserved. </a:t>
            </a: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密级：保密</a:t>
            </a: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" y="152401"/>
            <a:ext cx="6578600" cy="639763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1295400"/>
            <a:ext cx="8229600" cy="4572000"/>
          </a:xfrm>
          <a:prstGeom prst="rect">
            <a:avLst/>
          </a:prstGeom>
        </p:spPr>
        <p:txBody>
          <a:bodyPr vert="eaVert"/>
          <a:lstStyle>
            <a:lvl1pPr marL="342900" indent="-342900">
              <a:buClr>
                <a:srgbClr val="C00000"/>
              </a:buClr>
              <a:buFont typeface="Wingdings" panose="05000000000000000000" pitchFamily="2" charset="2"/>
              <a:buChar char="u"/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5225"/>
            <a:ext cx="1752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fld id="{9A0DB2DC-4C9A-4742-B13C-FB6460FD3503}" type="slidenum">
              <a:rPr lang="en-US" altLang="zh-CN" dirty="0">
                <a:ea typeface="微软雅黑" panose="020B0503020204020204" pitchFamily="34" charset="-122"/>
              </a:rPr>
            </a:fld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>
            <p:ph type="ftr" sz="quarter" idx="3"/>
          </p:nvPr>
        </p:nvSpPr>
        <p:spPr>
          <a:xfrm>
            <a:off x="2819400" y="6248400"/>
            <a:ext cx="3810000" cy="476250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Copyright © Sieyuan Electric Co., Ltd. All Rights Reserved. </a:t>
            </a: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密级：保密</a:t>
            </a: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" y="152401"/>
            <a:ext cx="6578600" cy="639763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295400"/>
            <a:ext cx="8229600" cy="4572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C00000"/>
              </a:buClr>
              <a:buFont typeface="Wingdings" panose="05000000000000000000" pitchFamily="2" charset="2"/>
              <a:buChar char="u"/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934200" y="6245225"/>
            <a:ext cx="1752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fld id="{9A0DB2DC-4C9A-4742-B13C-FB6460FD3503}" type="slidenum">
              <a:rPr lang="en-US" altLang="zh-CN" dirty="0">
                <a:ea typeface="微软雅黑" panose="020B0503020204020204" pitchFamily="34" charset="-122"/>
              </a:rPr>
            </a:fld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>
            <p:ph type="ftr" sz="quarter" idx="3"/>
          </p:nvPr>
        </p:nvSpPr>
        <p:spPr>
          <a:xfrm>
            <a:off x="2819400" y="6248400"/>
            <a:ext cx="3810000" cy="476250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Copyright © Sieyuan Electric Co., Ltd. All Rights Reserved. </a:t>
            </a:r>
            <a:r>
              <a: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密级：保密</a:t>
            </a:r>
            <a:endParaRPr kumimoji="0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spcBef>
                <a:spcPct val="20000"/>
              </a:spcBef>
              <a:buClr>
                <a:srgbClr val="FF0000"/>
              </a:buClr>
              <a:buChar char="v"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Copyright © Sieyuan Electric Co., Ltd. All Rights Reserved. </a:t>
            </a:r>
            <a:r>
              <a: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密级：保密</a:t>
            </a:r>
            <a:endParaRPr kumimoji="0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7" descr="封底照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" y="3276600"/>
            <a:ext cx="2959100" cy="2743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图片 8" descr="公司大楼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3276600"/>
            <a:ext cx="3352800" cy="2743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图片 10" descr="2c27d71a3b3d104ac1bd5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3276600"/>
            <a:ext cx="2819400" cy="2743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685800"/>
            <a:ext cx="7772400" cy="1219200"/>
          </a:xfrm>
          <a:prstGeom prst="rect">
            <a:avLst/>
          </a:prstGeom>
        </p:spPr>
        <p:txBody>
          <a:bodyPr/>
          <a:lstStyle>
            <a:lvl1pPr algn="ctr">
              <a:defRPr sz="4400">
                <a:solidFill>
                  <a:srgbClr val="000099"/>
                </a:solidFill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057400"/>
            <a:ext cx="6400800" cy="8382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>
                <a:solidFill>
                  <a:srgbClr val="000099"/>
                </a:solidFill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12" name="Rectangle 3"/>
          <p:cNvSpPr>
            <a:spLocks noGrp="1" noChangeArrowheads="1"/>
          </p:cNvSpPr>
          <p:nvPr>
            <p:ph type="ftr" sz="quarter" idx="3"/>
          </p:nvPr>
        </p:nvSpPr>
        <p:spPr>
          <a:xfrm>
            <a:off x="2819400" y="6248400"/>
            <a:ext cx="3810000" cy="476250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Copyright © Sieyuan Electric Co., Ltd. All Rights Reserved. </a:t>
            </a:r>
            <a:r>
              <a: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密级：保密</a:t>
            </a:r>
            <a:endParaRPr kumimoji="1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左箭头 7"/>
          <p:cNvSpPr>
            <a:spLocks noChangeArrowheads="1"/>
          </p:cNvSpPr>
          <p:nvPr/>
        </p:nvSpPr>
        <p:spPr bwMode="auto">
          <a:xfrm>
            <a:off x="838200" y="2514600"/>
            <a:ext cx="381000" cy="914400"/>
          </a:xfrm>
          <a:prstGeom prst="leftArrow">
            <a:avLst>
              <a:gd name="adj1" fmla="val 50000"/>
              <a:gd name="adj2" fmla="val 50000"/>
            </a:avLst>
          </a:prstGeom>
          <a:noFill/>
          <a:ln>
            <a:noFill/>
          </a:ln>
        </p:spPr>
        <p:txBody>
          <a:bodyPr/>
          <a:lstStyle>
            <a:lvl1pPr marL="342900" indent="-3429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295400"/>
            <a:ext cx="8229600" cy="4572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C00000"/>
              </a:buClr>
              <a:buFont typeface="Wingdings" panose="05000000000000000000" pitchFamily="2" charset="2"/>
              <a:buChar char="u"/>
              <a:defRPr>
                <a:ea typeface="微软雅黑" panose="020B0503020204020204" pitchFamily="34" charset="-122"/>
              </a:defRPr>
            </a:lvl1pPr>
            <a:lvl2pPr>
              <a:buClr>
                <a:srgbClr val="002060"/>
              </a:buCl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5225"/>
            <a:ext cx="1752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fld id="{9A0DB2DC-4C9A-4742-B13C-FB6460FD3503}" type="slidenum">
              <a:rPr lang="en-US" altLang="zh-CN" dirty="0">
                <a:ea typeface="微软雅黑" panose="020B0503020204020204" pitchFamily="34" charset="-122"/>
              </a:rPr>
            </a:fld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ftr" sz="quarter" idx="3"/>
          </p:nvPr>
        </p:nvSpPr>
        <p:spPr>
          <a:xfrm>
            <a:off x="2819400" y="6248400"/>
            <a:ext cx="3810000" cy="476250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Copyright © Sieyuan Electric Co., Ltd. All Rights Reserved. </a:t>
            </a:r>
            <a:r>
              <a: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密级：保密</a:t>
            </a:r>
            <a:endParaRPr kumimoji="0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4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5225"/>
            <a:ext cx="1752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fld id="{9A0DB2DC-4C9A-4742-B13C-FB6460FD3503}" type="slidenum">
              <a:rPr lang="en-US" altLang="zh-CN" dirty="0">
                <a:ea typeface="微软雅黑" panose="020B0503020204020204" pitchFamily="34" charset="-122"/>
              </a:rPr>
            </a:fld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>
            <p:ph type="ftr" sz="quarter" idx="3"/>
          </p:nvPr>
        </p:nvSpPr>
        <p:spPr>
          <a:xfrm>
            <a:off x="2819400" y="6248400"/>
            <a:ext cx="3810000" cy="476250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Copyright © Sieyuan Electric Co., Ltd. All Rights Reserved. </a:t>
            </a: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密级：保密</a:t>
            </a: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" y="152401"/>
            <a:ext cx="6578600" cy="639763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295400"/>
            <a:ext cx="4038600" cy="4572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C00000"/>
              </a:buClr>
              <a:buFont typeface="Wingdings" panose="05000000000000000000" pitchFamily="2" charset="2"/>
              <a:buChar char="u"/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0" y="1295400"/>
            <a:ext cx="4038600" cy="4572000"/>
          </a:xfrm>
          <a:prstGeom prst="rect">
            <a:avLst/>
          </a:prstGeom>
        </p:spPr>
        <p:txBody>
          <a:bodyPr/>
          <a:lstStyle>
            <a:lvl1pPr marL="342900" indent="-342900">
              <a:defRPr lang="zh-CN" altLang="en-US" sz="2800" b="1" dirty="0" smtClean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5225"/>
            <a:ext cx="1752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fld id="{9A0DB2DC-4C9A-4742-B13C-FB6460FD3503}" type="slidenum">
              <a:rPr lang="en-US" altLang="zh-CN" dirty="0">
                <a:ea typeface="微软雅黑" panose="020B0503020204020204" pitchFamily="34" charset="-122"/>
              </a:rPr>
            </a:fld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>
            <p:ph type="ftr" sz="quarter" idx="3"/>
          </p:nvPr>
        </p:nvSpPr>
        <p:spPr>
          <a:xfrm>
            <a:off x="2819400" y="6248400"/>
            <a:ext cx="3810000" cy="476250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Copyright © Sieyuan Electric Co., Ltd. All Rights Reserved. </a:t>
            </a: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密级：保密</a:t>
            </a: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C00000"/>
              </a:buClr>
              <a:buFont typeface="Wingdings" panose="05000000000000000000" pitchFamily="2" charset="2"/>
              <a:buChar char="u"/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  <a:prstGeom prst="rect">
            <a:avLst/>
          </a:prstGeom>
        </p:spPr>
        <p:txBody>
          <a:bodyPr/>
          <a:lstStyle>
            <a:lvl1pPr marL="342900" indent="-342900">
              <a:defRPr lang="zh-CN" altLang="en-US" sz="2400" b="1" dirty="0" smtClean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934200" y="6245225"/>
            <a:ext cx="1752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fld id="{9A0DB2DC-4C9A-4742-B13C-FB6460FD3503}" type="slidenum">
              <a:rPr lang="en-US" altLang="zh-CN" dirty="0">
                <a:ea typeface="微软雅黑" panose="020B0503020204020204" pitchFamily="34" charset="-122"/>
              </a:rPr>
            </a:fld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>
            <p:ph type="ftr" sz="quarter" idx="13"/>
          </p:nvPr>
        </p:nvSpPr>
        <p:spPr>
          <a:xfrm>
            <a:off x="2819400" y="6248400"/>
            <a:ext cx="3810000" cy="476250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Copyright © Sieyuan Electric Co., Ltd. All Rights Reserved. </a:t>
            </a: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密级：保密</a:t>
            </a: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单击图标添加图片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5225"/>
            <a:ext cx="1752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fld id="{9A0DB2DC-4C9A-4742-B13C-FB6460FD3503}" type="slidenum">
              <a:rPr lang="en-US" altLang="zh-CN" dirty="0">
                <a:ea typeface="微软雅黑" panose="020B0503020204020204" pitchFamily="34" charset="-122"/>
              </a:rPr>
            </a:fld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>
            <p:ph type="ftr" sz="quarter" idx="3"/>
          </p:nvPr>
        </p:nvSpPr>
        <p:spPr>
          <a:xfrm>
            <a:off x="2819400" y="6248400"/>
            <a:ext cx="3810000" cy="476250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Copyright © Sieyuan Electric Co., Ltd. All Rights Reserved. </a:t>
            </a: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密级：保密</a:t>
            </a: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" y="152401"/>
            <a:ext cx="6578600" cy="639763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1295400"/>
            <a:ext cx="8229600" cy="4572000"/>
          </a:xfrm>
          <a:prstGeom prst="rect">
            <a:avLst/>
          </a:prstGeom>
        </p:spPr>
        <p:txBody>
          <a:bodyPr vert="eaVert"/>
          <a:lstStyle>
            <a:lvl1pPr marL="342900" indent="-342900">
              <a:buClr>
                <a:srgbClr val="C00000"/>
              </a:buClr>
              <a:buFont typeface="Wingdings" panose="05000000000000000000" pitchFamily="2" charset="2"/>
              <a:buChar char="u"/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5225"/>
            <a:ext cx="1752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fld id="{9A0DB2DC-4C9A-4742-B13C-FB6460FD3503}" type="slidenum">
              <a:rPr lang="en-US" altLang="zh-CN" dirty="0">
                <a:ea typeface="微软雅黑" panose="020B0503020204020204" pitchFamily="34" charset="-122"/>
              </a:rPr>
            </a:fld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>
            <p:ph type="ftr" sz="quarter" idx="3"/>
          </p:nvPr>
        </p:nvSpPr>
        <p:spPr>
          <a:xfrm>
            <a:off x="2819400" y="6248400"/>
            <a:ext cx="3810000" cy="476250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Copyright © Sieyuan Electric Co., Ltd. All Rights Reserved. </a:t>
            </a: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密级：保密</a:t>
            </a: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" y="152401"/>
            <a:ext cx="6578600" cy="639763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295400"/>
            <a:ext cx="8229600" cy="4572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C00000"/>
              </a:buClr>
              <a:buFont typeface="Wingdings" panose="05000000000000000000" pitchFamily="2" charset="2"/>
              <a:buChar char="u"/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934200" y="6245225"/>
            <a:ext cx="1752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fld id="{9A0DB2DC-4C9A-4742-B13C-FB6460FD3503}" type="slidenum">
              <a:rPr lang="en-US" altLang="zh-CN" dirty="0">
                <a:ea typeface="微软雅黑" panose="020B0503020204020204" pitchFamily="34" charset="-122"/>
              </a:rPr>
            </a:fld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>
            <p:ph type="ftr" sz="quarter" idx="3"/>
          </p:nvPr>
        </p:nvSpPr>
        <p:spPr>
          <a:xfrm>
            <a:off x="2819400" y="6248400"/>
            <a:ext cx="3810000" cy="476250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Copyright © Sieyuan Electric Co., Ltd. All Rights Reserved. </a:t>
            </a:r>
            <a:r>
              <a: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密级：保密</a:t>
            </a:r>
            <a:endParaRPr kumimoji="0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spcBef>
                <a:spcPct val="20000"/>
              </a:spcBef>
              <a:buClr>
                <a:srgbClr val="FF0000"/>
              </a:buClr>
              <a:buChar char="v"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Copyright © Sieyuan Electric Co., Ltd. All Rights Reserved. </a:t>
            </a:r>
            <a:r>
              <a: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密级：保密</a:t>
            </a:r>
            <a:endParaRPr kumimoji="0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" y="152400"/>
            <a:ext cx="6578600" cy="6397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>
          <a:xfrm>
            <a:off x="2819400" y="6248400"/>
            <a:ext cx="3810000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zh-CN"/>
          </a:p>
          <a:p>
            <a:r>
              <a:rPr lang="zh-CN" altLang="zh-CN"/>
              <a:t>Copyright © Sieyuan Electric Co., Ltd. All Rights Reserved.</a:t>
            </a:r>
            <a:endParaRPr lang="zh-CN" altLang="zh-CN" sz="3200" b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934200" y="6245225"/>
            <a:ext cx="1752600" cy="476250"/>
          </a:xfrm>
        </p:spPr>
        <p:txBody>
          <a:bodyPr/>
          <a:lstStyle>
            <a:lvl1pPr>
              <a:defRPr/>
            </a:lvl1pPr>
          </a:lstStyle>
          <a:p>
            <a:fld id="{7D4002C7-3EED-4A99-8964-873A64D12F91}" type="slidenum">
              <a:rPr lang="zh-CN" altLang="en-US"/>
            </a:fld>
            <a:endParaRPr lang="en-US" sz="1800" b="1"/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5225"/>
            <a:ext cx="1752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Font typeface="Wingdings" panose="05000000000000000000" pitchFamily="2" charset="2"/>
              <a:defRPr>
                <a:solidFill>
                  <a:srgbClr val="000000"/>
                </a:solidFill>
                <a:ea typeface="微软雅黑" panose="020B0503020204020204" pitchFamily="34" charset="-122"/>
              </a:defRPr>
            </a:lvl1pPr>
          </a:lstStyle>
          <a:p>
            <a:pPr lvl="0" eaLnBrk="1" hangingPunct="1">
              <a:spcBef>
                <a:spcPct val="20000"/>
              </a:spcBef>
              <a:buClr>
                <a:srgbClr val="FF0000"/>
              </a:buClr>
              <a:buChar char="v"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gradFill flip="none" rotWithShape="1">
            <a:gsLst>
              <a:gs pos="0">
                <a:srgbClr val="000099"/>
              </a:gs>
              <a:gs pos="17000">
                <a:srgbClr val="0000CC"/>
              </a:gs>
              <a:gs pos="31000">
                <a:schemeClr val="accent6">
                  <a:lumMod val="60000"/>
                  <a:lumOff val="40000"/>
                </a:schemeClr>
              </a:gs>
              <a:gs pos="47000">
                <a:srgbClr val="3366FF"/>
              </a:gs>
              <a:gs pos="51000">
                <a:srgbClr val="6699FF"/>
              </a:gs>
              <a:gs pos="46000">
                <a:schemeClr val="accent3"/>
              </a:gs>
              <a:gs pos="52000">
                <a:schemeClr val="accent3"/>
              </a:gs>
              <a:gs pos="48000">
                <a:schemeClr val="accent3"/>
              </a:gs>
              <a:gs pos="39000">
                <a:schemeClr val="accent2">
                  <a:lumMod val="20000"/>
                  <a:lumOff val="80000"/>
                </a:schemeClr>
              </a:gs>
            </a:gsLst>
            <a:lin ang="3000000" scaled="0"/>
            <a:tileRect r="-100000" b="-100000"/>
          </a:gradFill>
          <a:ln w="9525">
            <a:gradFill>
              <a:gsLst>
                <a:gs pos="0">
                  <a:srgbClr val="000099"/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0"/>
            </a:gradFill>
            <a:miter lim="800000"/>
          </a:ln>
          <a:effectLst/>
        </p:spPr>
        <p:txBody>
          <a:bodyPr wrap="none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zh-CN" altLang="en-US" sz="3200" b="1" i="0" u="none" strike="noStrike" kern="1200" cap="none" spc="50" normalizeH="0" baseline="0" noProof="0" dirty="0">
              <a:ln w="11430"/>
              <a:gradFill>
                <a:gsLst>
                  <a:gs pos="25000">
                    <a:srgbClr val="333399">
                      <a:satMod val="155000"/>
                    </a:srgbClr>
                  </a:gs>
                  <a:gs pos="100000">
                    <a:srgbClr val="333399">
                      <a:shade val="45000"/>
                      <a:satMod val="165000"/>
                    </a:srgb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30" name="Rectangle 9"/>
          <p:cNvSpPr>
            <a:spLocks noChangeArrowheads="1"/>
          </p:cNvSpPr>
          <p:nvPr/>
        </p:nvSpPr>
        <p:spPr bwMode="auto">
          <a:xfrm>
            <a:off x="165100" y="6096000"/>
            <a:ext cx="8856663" cy="71438"/>
          </a:xfrm>
          <a:prstGeom prst="rect">
            <a:avLst/>
          </a:prstGeom>
          <a:gradFill rotWithShape="1">
            <a:gsLst>
              <a:gs pos="0">
                <a:srgbClr val="0099FF">
                  <a:alpha val="62000"/>
                </a:srgbClr>
              </a:gs>
              <a:gs pos="100000">
                <a:srgbClr val="0F1F4D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91200" y="228603"/>
            <a:ext cx="3581400" cy="5847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50" normalizeH="0" baseline="0" noProof="0" dirty="0">
                <a:ln w="11430"/>
                <a:gradFill>
                  <a:gsLst>
                    <a:gs pos="25000">
                      <a:srgbClr val="333399">
                        <a:satMod val="155000"/>
                      </a:srgbClr>
                    </a:gs>
                    <a:gs pos="100000">
                      <a:srgbClr val="333399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Sieyuan</a:t>
            </a:r>
            <a:r>
              <a:rPr kumimoji="0" lang="en-US" altLang="zh-CN" sz="3200" b="1" i="0" u="none" strike="noStrike" kern="1200" cap="none" spc="50" normalizeH="0" baseline="30000" noProof="0" dirty="0">
                <a:ln w="11430"/>
                <a:gradFill>
                  <a:gsLst>
                    <a:gs pos="25000">
                      <a:srgbClr val="333399">
                        <a:satMod val="155000"/>
                      </a:srgbClr>
                    </a:gs>
                    <a:gs pos="100000">
                      <a:srgbClr val="333399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®</a:t>
            </a:r>
            <a:r>
              <a:rPr kumimoji="0" lang="zh-CN" altLang="en-US" sz="2800" b="1" i="0" u="none" strike="noStrike" kern="1200" cap="none" spc="50" normalizeH="0" baseline="0" noProof="0" dirty="0">
                <a:ln w="11430"/>
                <a:gradFill>
                  <a:gsLst>
                    <a:gs pos="25000">
                      <a:srgbClr val="333399">
                        <a:satMod val="155000"/>
                      </a:srgbClr>
                    </a:gs>
                    <a:gs pos="100000">
                      <a:srgbClr val="333399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思源电气</a:t>
            </a:r>
            <a:endParaRPr kumimoji="0" lang="zh-CN" altLang="en-US" sz="2800" b="1" i="0" u="none" strike="noStrike" kern="1200" cap="none" spc="50" normalizeH="0" baseline="0" noProof="0" dirty="0">
              <a:ln w="11430"/>
              <a:gradFill>
                <a:gsLst>
                  <a:gs pos="25000">
                    <a:srgbClr val="333399">
                      <a:satMod val="155000"/>
                    </a:srgbClr>
                  </a:gs>
                  <a:gs pos="100000">
                    <a:srgbClr val="333399">
                      <a:shade val="45000"/>
                      <a:satMod val="165000"/>
                    </a:srgb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3"/>
          </p:nvPr>
        </p:nvSpPr>
        <p:spPr>
          <a:xfrm>
            <a:off x="2819400" y="6248400"/>
            <a:ext cx="3810000" cy="476250"/>
          </a:xfrm>
          <a:prstGeom prst="rect">
            <a:avLst/>
          </a:prstGeom>
        </p:spPr>
        <p:txBody>
          <a:bodyPr/>
          <a:lstStyle>
            <a:lvl1pPr algn="ct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  <a:defRPr sz="9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Copyright © Sieyuan Electric Co., Ltd. All Rights Reserved. </a:t>
            </a:r>
            <a:r>
              <a: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密级：保密</a:t>
            </a:r>
            <a:endParaRPr kumimoji="0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>
    <p:random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v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90000"/>
        <a:buFont typeface="Wingdings" panose="05000000000000000000" pitchFamily="2" charset="2"/>
        <a:buChar char="Ø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5225"/>
            <a:ext cx="1752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Font typeface="Wingdings" panose="05000000000000000000" pitchFamily="2" charset="2"/>
              <a:defRPr>
                <a:solidFill>
                  <a:srgbClr val="000000"/>
                </a:solidFill>
                <a:ea typeface="微软雅黑" panose="020B0503020204020204" pitchFamily="34" charset="-122"/>
              </a:defRPr>
            </a:lvl1pPr>
          </a:lstStyle>
          <a:p>
            <a:pPr lvl="0" eaLnBrk="1" hangingPunct="1">
              <a:spcBef>
                <a:spcPct val="20000"/>
              </a:spcBef>
              <a:buClr>
                <a:srgbClr val="FF0000"/>
              </a:buClr>
              <a:buChar char="v"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gradFill flip="none" rotWithShape="1">
            <a:gsLst>
              <a:gs pos="0">
                <a:srgbClr val="000099"/>
              </a:gs>
              <a:gs pos="17000">
                <a:srgbClr val="0000CC"/>
              </a:gs>
              <a:gs pos="31000">
                <a:schemeClr val="accent6">
                  <a:lumMod val="60000"/>
                  <a:lumOff val="40000"/>
                </a:schemeClr>
              </a:gs>
              <a:gs pos="47000">
                <a:srgbClr val="3366FF"/>
              </a:gs>
              <a:gs pos="51000">
                <a:srgbClr val="6699FF"/>
              </a:gs>
              <a:gs pos="46000">
                <a:schemeClr val="accent3"/>
              </a:gs>
              <a:gs pos="52000">
                <a:schemeClr val="accent3"/>
              </a:gs>
              <a:gs pos="48000">
                <a:schemeClr val="accent3"/>
              </a:gs>
              <a:gs pos="39000">
                <a:schemeClr val="accent2">
                  <a:lumMod val="20000"/>
                  <a:lumOff val="80000"/>
                </a:schemeClr>
              </a:gs>
            </a:gsLst>
            <a:lin ang="3000000" scaled="0"/>
            <a:tileRect r="-100000" b="-100000"/>
          </a:gradFill>
          <a:ln w="9525">
            <a:gradFill>
              <a:gsLst>
                <a:gs pos="0">
                  <a:srgbClr val="000099"/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0"/>
            </a:gradFill>
            <a:miter lim="800000"/>
          </a:ln>
          <a:effectLst/>
        </p:spPr>
        <p:txBody>
          <a:bodyPr wrap="none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zh-CN" altLang="en-US" sz="3200" b="1" i="0" u="none" strike="noStrike" kern="1200" cap="none" spc="50" normalizeH="0" baseline="0" noProof="0" dirty="0">
              <a:ln w="11430"/>
              <a:gradFill>
                <a:gsLst>
                  <a:gs pos="25000">
                    <a:srgbClr val="333399">
                      <a:satMod val="155000"/>
                    </a:srgbClr>
                  </a:gs>
                  <a:gs pos="100000">
                    <a:srgbClr val="333399">
                      <a:shade val="45000"/>
                      <a:satMod val="165000"/>
                    </a:srgb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30" name="Rectangle 9"/>
          <p:cNvSpPr>
            <a:spLocks noChangeArrowheads="1"/>
          </p:cNvSpPr>
          <p:nvPr/>
        </p:nvSpPr>
        <p:spPr bwMode="auto">
          <a:xfrm>
            <a:off x="165100" y="6096000"/>
            <a:ext cx="8856663" cy="71438"/>
          </a:xfrm>
          <a:prstGeom prst="rect">
            <a:avLst/>
          </a:prstGeom>
          <a:gradFill rotWithShape="1">
            <a:gsLst>
              <a:gs pos="0">
                <a:srgbClr val="0099FF">
                  <a:alpha val="62000"/>
                </a:srgbClr>
              </a:gs>
              <a:gs pos="100000">
                <a:srgbClr val="0F1F4D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91200" y="228603"/>
            <a:ext cx="3581400" cy="5847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50" normalizeH="0" baseline="0" noProof="0" dirty="0">
                <a:ln w="11430"/>
                <a:gradFill>
                  <a:gsLst>
                    <a:gs pos="25000">
                      <a:srgbClr val="333399">
                        <a:satMod val="155000"/>
                      </a:srgbClr>
                    </a:gs>
                    <a:gs pos="100000">
                      <a:srgbClr val="333399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Sieyuan</a:t>
            </a:r>
            <a:r>
              <a:rPr kumimoji="0" lang="en-US" altLang="zh-CN" sz="3200" b="1" i="0" u="none" strike="noStrike" kern="1200" cap="none" spc="50" normalizeH="0" baseline="30000" noProof="0" dirty="0">
                <a:ln w="11430"/>
                <a:gradFill>
                  <a:gsLst>
                    <a:gs pos="25000">
                      <a:srgbClr val="333399">
                        <a:satMod val="155000"/>
                      </a:srgbClr>
                    </a:gs>
                    <a:gs pos="100000">
                      <a:srgbClr val="333399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®</a:t>
            </a:r>
            <a:r>
              <a:rPr kumimoji="0" lang="zh-CN" altLang="en-US" sz="2800" b="1" i="0" u="none" strike="noStrike" kern="1200" cap="none" spc="50" normalizeH="0" baseline="0" noProof="0" dirty="0">
                <a:ln w="11430"/>
                <a:gradFill>
                  <a:gsLst>
                    <a:gs pos="25000">
                      <a:srgbClr val="333399">
                        <a:satMod val="155000"/>
                      </a:srgbClr>
                    </a:gs>
                    <a:gs pos="100000">
                      <a:srgbClr val="333399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思源电气</a:t>
            </a:r>
            <a:endParaRPr kumimoji="0" lang="zh-CN" altLang="en-US" sz="2800" b="1" i="0" u="none" strike="noStrike" kern="1200" cap="none" spc="50" normalizeH="0" baseline="0" noProof="0" dirty="0">
              <a:ln w="11430"/>
              <a:gradFill>
                <a:gsLst>
                  <a:gs pos="25000">
                    <a:srgbClr val="333399">
                      <a:satMod val="155000"/>
                    </a:srgbClr>
                  </a:gs>
                  <a:gs pos="100000">
                    <a:srgbClr val="333399">
                      <a:shade val="45000"/>
                      <a:satMod val="165000"/>
                    </a:srgb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3"/>
          </p:nvPr>
        </p:nvSpPr>
        <p:spPr>
          <a:xfrm>
            <a:off x="2819400" y="6248400"/>
            <a:ext cx="3810000" cy="476250"/>
          </a:xfrm>
          <a:prstGeom prst="rect">
            <a:avLst/>
          </a:prstGeom>
        </p:spPr>
        <p:txBody>
          <a:bodyPr/>
          <a:lstStyle>
            <a:lvl1pPr algn="ct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  <a:defRPr sz="9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Copyright © Sieyuan Electric Co., Ltd. All Rights Reserved. </a:t>
            </a:r>
            <a:r>
              <a: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密级：保密</a:t>
            </a:r>
            <a:endParaRPr kumimoji="0" lang="en-US" altLang="zh-CN" sz="9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transition>
    <p:random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v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90000"/>
        <a:buFont typeface="Wingdings" panose="05000000000000000000" pitchFamily="2" charset="2"/>
        <a:buChar char="Ø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slide" Target="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slide" Target="slid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slide" Target="slide8.xml"/><Relationship Id="rId2" Type="http://schemas.openxmlformats.org/officeDocument/2006/relationships/tags" Target="../tags/tag4.xml"/><Relationship Id="rId16" Type="http://schemas.openxmlformats.org/officeDocument/2006/relationships/slideLayout" Target="../slideLayouts/slideLayout9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slide" Target="slide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slide" Target="slide8.xml"/><Relationship Id="rId2" Type="http://schemas.openxmlformats.org/officeDocument/2006/relationships/tags" Target="../tags/tag18.xml"/><Relationship Id="rId16" Type="http://schemas.openxmlformats.org/officeDocument/2006/relationships/slideLayout" Target="../slideLayouts/slideLayout18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slide" Target="slide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slide" Target="slide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762000"/>
            <a:ext cx="9144000" cy="23622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微软雅黑" panose="020B0503020204020204" pitchFamily="34" charset="-122"/>
                <a:cs typeface="+mj-cs"/>
              </a:rPr>
              <a:t>国际化语言开发环境</a:t>
            </a:r>
            <a:b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微软雅黑" panose="020B0503020204020204" pitchFamily="34" charset="-122"/>
                <a:cs typeface="+mj-cs"/>
              </a:rPr>
            </a:b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微软雅黑" panose="020B0503020204020204" pitchFamily="34" charset="-122"/>
                <a:cs typeface="+mj-cs"/>
              </a:rPr>
              <a:t>2024.11.13</a:t>
            </a:r>
            <a:br>
              <a:rPr kumimoji="0" lang="en-US" altLang="zh-CN" sz="25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细黑" pitchFamily="2" charset="-122"/>
                <a:ea typeface="华文细黑" pitchFamily="2" charset="-122"/>
                <a:cs typeface="+mj-cs"/>
              </a:rPr>
            </a:br>
            <a:endParaRPr kumimoji="0" lang="zh-CN" altLang="en-US" sz="25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黑体" panose="02010609060101010101" pitchFamily="49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0243" name="Rectangle 3"/>
          <p:cNvSpPr/>
          <p:nvPr/>
        </p:nvSpPr>
        <p:spPr>
          <a:xfrm>
            <a:off x="6400800" y="0"/>
            <a:ext cx="27432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024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0"/>
            <a:ext cx="1828800" cy="638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5" name="TextBox 5"/>
          <p:cNvSpPr txBox="1"/>
          <p:nvPr/>
        </p:nvSpPr>
        <p:spPr>
          <a:xfrm>
            <a:off x="7315200" y="533083"/>
            <a:ext cx="1768475" cy="244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1000" dirty="0">
                <a:latin typeface="Arial" panose="020B0604020202020204" pitchFamily="34" charset="0"/>
              </a:rPr>
              <a:t>模板编号</a:t>
            </a:r>
            <a:r>
              <a:rPr lang="en-US" altLang="zh-CN" sz="1000" dirty="0">
                <a:latin typeface="Arial" panose="020B0604020202020204" pitchFamily="34" charset="0"/>
              </a:rPr>
              <a:t>: SY/WD-007-049F</a:t>
            </a:r>
            <a:endParaRPr lang="zh-CN" altLang="en-US" sz="1000" dirty="0">
              <a:latin typeface="Arial" panose="020B0604020202020204" pitchFamily="34" charset="0"/>
            </a:endParaRPr>
          </a:p>
        </p:txBody>
      </p:sp>
      <p:sp>
        <p:nvSpPr>
          <p:cNvPr id="10246" name="页脚占位符 6"/>
          <p:cNvSpPr txBox="1">
            <a:spLocks noGrp="1"/>
          </p:cNvSpPr>
          <p:nvPr>
            <p:ph type="ftr" sz="quarter" idx="3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altLang="zh-CN" sz="900" dirty="0"/>
              <a:t>Copyright © Sieyuan Electric Co., Ltd. All Rights Reserved. </a:t>
            </a:r>
            <a:r>
              <a:rPr lang="zh-CN" altLang="en-US" sz="900" dirty="0"/>
              <a:t>密级：保密</a:t>
            </a:r>
            <a:endParaRPr lang="en-US" altLang="zh-CN" sz="900" dirty="0"/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AutoShape 2"/>
          <p:cNvSpPr>
            <a:spLocks noChangeArrowheads="1"/>
          </p:cNvSpPr>
          <p:nvPr/>
        </p:nvSpPr>
        <p:spPr bwMode="gray">
          <a:xfrm>
            <a:off x="1066800" y="1371600"/>
            <a:ext cx="522288" cy="4572000"/>
          </a:xfrm>
          <a:prstGeom prst="roundRect">
            <a:avLst>
              <a:gd name="adj" fmla="val 16667"/>
            </a:avLst>
          </a:prstGeom>
          <a:solidFill>
            <a:srgbClr val="CBCDDF"/>
          </a:solidFill>
          <a:ln w="3175">
            <a:noFill/>
            <a:round/>
          </a:ln>
        </p:spPr>
        <p:txBody>
          <a:bodyPr wrap="none" lIns="90000" tIns="46800" rIns="90000" bIns="46800" anchor="ctr"/>
          <a:lstStyle/>
          <a:p>
            <a:pPr>
              <a:buFontTx/>
              <a:buChar char="•"/>
            </a:pPr>
            <a:endParaRPr lang="zh-CN" altLang="zh-CN" sz="900" i="1">
              <a:solidFill>
                <a:srgbClr val="120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4" name="灯片编号占位符 4"/>
          <p:cNvSpPr txBox="1">
            <a:spLocks noGrp="1"/>
          </p:cNvSpPr>
          <p:nvPr/>
        </p:nvSpPr>
        <p:spPr bwMode="auto">
          <a:xfrm>
            <a:off x="8153400" y="6245225"/>
            <a:ext cx="5334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r">
              <a:spcBef>
                <a:spcPct val="0"/>
              </a:spcBef>
              <a:buClrTx/>
              <a:buFontTx/>
              <a:buNone/>
            </a:pPr>
            <a:fld id="{5DEB0B31-78B2-4220-88E1-7694F8D03A4E}" type="slidenum"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z="18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0800" y="152400"/>
            <a:ext cx="6578600" cy="639763"/>
          </a:xfrm>
        </p:spPr>
        <p:txBody>
          <a:bodyPr/>
          <a:lstStyle/>
          <a:p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目  录</a:t>
            </a:r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6" name="AutoShape 8"/>
          <p:cNvSpPr>
            <a:spLocks noChangeArrowheads="1"/>
          </p:cNvSpPr>
          <p:nvPr/>
        </p:nvSpPr>
        <p:spPr bwMode="gray">
          <a:xfrm>
            <a:off x="1270000" y="114300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0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7" name="AutoShape 8"/>
          <p:cNvSpPr>
            <a:spLocks noChangeArrowheads="1"/>
          </p:cNvSpPr>
          <p:nvPr/>
        </p:nvSpPr>
        <p:spPr bwMode="gray">
          <a:xfrm>
            <a:off x="1270000" y="51625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8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08200" y="5143500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Q&amp;A</a:t>
            </a:r>
            <a:endParaRPr lang="en-US" altLang="zh-CN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9" name="AutoShape 8"/>
          <p:cNvSpPr>
            <a:spLocks noChangeArrowheads="1"/>
          </p:cNvSpPr>
          <p:nvPr/>
        </p:nvSpPr>
        <p:spPr bwMode="gray">
          <a:xfrm>
            <a:off x="1260475" y="17843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098675" y="1177925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28288A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项目管理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1" name="AutoShape 8"/>
          <p:cNvSpPr>
            <a:spLocks noChangeArrowheads="1"/>
          </p:cNvSpPr>
          <p:nvPr/>
        </p:nvSpPr>
        <p:spPr bwMode="gray">
          <a:xfrm>
            <a:off x="1270000" y="312420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0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2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08200" y="1808163"/>
            <a:ext cx="5953125" cy="554037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质量管理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3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08200" y="3125787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财务指标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4" name="AutoShape 8"/>
          <p:cNvSpPr>
            <a:spLocks noChangeArrowheads="1"/>
          </p:cNvSpPr>
          <p:nvPr/>
        </p:nvSpPr>
        <p:spPr bwMode="gray">
          <a:xfrm>
            <a:off x="1270000" y="243840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5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17725" y="2452688"/>
            <a:ext cx="5953125" cy="554037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项目迁移计划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6" name="AutoShape 8"/>
          <p:cNvSpPr>
            <a:spLocks noChangeArrowheads="1"/>
          </p:cNvSpPr>
          <p:nvPr/>
        </p:nvSpPr>
        <p:spPr bwMode="gray">
          <a:xfrm>
            <a:off x="1270000" y="37909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7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17725" y="3783012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技术评审相关内容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8"/>
          <p:cNvSpPr>
            <a:spLocks noChangeArrowheads="1"/>
          </p:cNvSpPr>
          <p:nvPr/>
        </p:nvSpPr>
        <p:spPr bwMode="gray">
          <a:xfrm>
            <a:off x="1276350" y="44767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24075" y="4468812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遗留问题的状态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页脚占位符 6"/>
          <p:cNvSpPr txBox="1">
            <a:spLocks noGrp="1"/>
          </p:cNvSpPr>
          <p:nvPr/>
        </p:nvSpPr>
        <p:spPr>
          <a:xfrm>
            <a:off x="2819400" y="6248400"/>
            <a:ext cx="38100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altLang="zh-CN" sz="900" dirty="0"/>
              <a:t>Copyright © Sieyuan Electric Co., Ltd. All Rights Reserved. </a:t>
            </a:r>
            <a:r>
              <a:rPr lang="zh-CN" altLang="en-US" sz="900" dirty="0"/>
              <a:t>密级：保密</a:t>
            </a:r>
            <a:endParaRPr lang="en-US" altLang="zh-CN" sz="900"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dirty="0">
                <a:latin typeface="+mj-lt"/>
                <a:ea typeface="微软雅黑" panose="020B0503020204020204" pitchFamily="34" charset="-122"/>
                <a:cs typeface="+mj-cs"/>
              </a:rPr>
              <a:t>项目管理</a:t>
            </a:r>
            <a:endParaRPr lang="zh-CN" altLang="en-US" dirty="0">
              <a:latin typeface="+mj-lt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81000" y="1295400"/>
            <a:ext cx="8239125" cy="443484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项目名称：国际化语言开发环境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项目背景：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  <a:p>
            <a:pPr lvl="1" indent="-342900" eaLnBrk="1" hangingPunct="1">
              <a:buClr>
                <a:srgbClr val="C00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dirty="0">
                <a:cs typeface="+mn-cs"/>
              </a:rPr>
              <a:t>柔性一体化平台需要快速开发多语言版</a:t>
            </a:r>
            <a:endParaRPr lang="en-US" altLang="zh-CN" dirty="0">
              <a:cs typeface="+mn-cs"/>
            </a:endParaRPr>
          </a:p>
          <a:p>
            <a:pPr lvl="1" indent="-342900" eaLnBrk="1" hangingPunct="1">
              <a:buClr>
                <a:srgbClr val="C00000"/>
              </a:buClr>
              <a:buFont typeface="Wingdings" panose="05000000000000000000" pitchFamily="2" charset="2"/>
              <a:buChar char="u"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嵌入式平台缺乏统一的词条管理工具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  <a:p>
            <a:pPr lvl="1" indent="-342900" eaLnBrk="1" hangingPunct="1">
              <a:buClr>
                <a:srgbClr val="C00000"/>
              </a:buClr>
              <a:buFont typeface="Wingdings" panose="05000000000000000000" pitchFamily="2" charset="2"/>
              <a:buChar char="u"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国际化开发过程长、涉及人员多，开发效率低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292" name="页脚占位符 3"/>
          <p:cNvSpPr txBox="1">
            <a:spLocks noGrp="1"/>
          </p:cNvSpPr>
          <p:nvPr>
            <p:ph type="ftr" sz="quarter" idx="3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altLang="zh-CN" sz="900" dirty="0"/>
              <a:t>Copyright © Sieyuan Electric Co., Ltd. All Rights Reserved. </a:t>
            </a:r>
            <a:r>
              <a:rPr lang="zh-CN" altLang="en-US" sz="900" dirty="0"/>
              <a:t>密级：保密</a:t>
            </a:r>
            <a:endParaRPr lang="en-US" altLang="zh-CN" sz="900" dirty="0"/>
          </a:p>
        </p:txBody>
      </p:sp>
      <p:sp>
        <p:nvSpPr>
          <p:cNvPr id="12293" name="灯片编号占位符 4"/>
          <p:cNvSpPr txBox="1">
            <a:spLocks noGrp="1"/>
          </p:cNvSpPr>
          <p:nvPr/>
        </p:nvSpPr>
        <p:spPr>
          <a:xfrm>
            <a:off x="8001000" y="6245225"/>
            <a:ext cx="685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r" eaLnBrk="1" hangingPunct="1"/>
            <a:fld id="{9A0DB2DC-4C9A-4742-B13C-FB6460FD3503}" type="slidenum"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项目管理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noProof="0" dirty="0">
                <a:ln>
                  <a:noFill/>
                </a:ln>
                <a:effectLst/>
                <a:uLnTx/>
                <a:uFillTx/>
                <a:sym typeface="+mn-ea"/>
              </a:rPr>
              <a:t>项目目的及范围：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600" b="0" dirty="0"/>
              <a:t>开发词条管理系统，统一管理公司范围内的国际化词条，适应嵌入式、通用软件的需要求；</a:t>
            </a:r>
            <a:endParaRPr lang="en-US" altLang="zh-CN" sz="1600" b="0" dirty="0"/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600" b="0" dirty="0"/>
              <a:t>能对接柔性一体化平台，使得一般开发人员不感知国际版开发过程，能自动对接平台和应用，仅需要翻译和测试就能完成国际版的开发；</a:t>
            </a:r>
            <a:endParaRPr lang="en-US" altLang="zh-CN" sz="1600" b="0" dirty="0"/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600" b="0" dirty="0"/>
              <a:t>降低国际版的开发周期和人力投入，从原经验值的</a:t>
            </a:r>
            <a:r>
              <a:rPr lang="en-US" altLang="zh-CN" sz="1600" b="0" dirty="0"/>
              <a:t>3~4</a:t>
            </a:r>
            <a:r>
              <a:rPr lang="zh-CN" altLang="en-US" sz="1600" b="0" dirty="0"/>
              <a:t>个月周期，</a:t>
            </a:r>
            <a:r>
              <a:rPr lang="en-US" altLang="zh-CN" sz="1600" b="0" dirty="0"/>
              <a:t>12~16</a:t>
            </a:r>
            <a:r>
              <a:rPr lang="zh-CN" altLang="en-US" sz="1600" b="0" dirty="0"/>
              <a:t>人月投入，降低为</a:t>
            </a:r>
            <a:r>
              <a:rPr lang="en-US" altLang="zh-CN" sz="1600" b="0" dirty="0"/>
              <a:t>2</a:t>
            </a:r>
            <a:r>
              <a:rPr lang="zh-CN" altLang="en-US" sz="1600" b="0" dirty="0"/>
              <a:t>个月周期，</a:t>
            </a:r>
            <a:r>
              <a:rPr lang="en-US" altLang="zh-CN" sz="1600" b="0" dirty="0"/>
              <a:t>4~6</a:t>
            </a:r>
            <a:r>
              <a:rPr lang="zh-CN" altLang="en-US" sz="1600" b="0" dirty="0"/>
              <a:t>人月投入</a:t>
            </a:r>
            <a:r>
              <a:rPr lang="en-US" altLang="zh-CN" sz="1600" b="0" dirty="0"/>
              <a:t>;</a:t>
            </a:r>
            <a:endParaRPr lang="en-US" altLang="zh-CN" sz="1600" b="0" dirty="0"/>
          </a:p>
        </p:txBody>
      </p:sp>
      <p:sp>
        <p:nvSpPr>
          <p:cNvPr id="10246" name="页脚占位符 6"/>
          <p:cNvSpPr txBox="1">
            <a:spLocks noGrp="1"/>
          </p:cNvSpPr>
          <p:nvPr>
            <p:ph type="ftr" sz="quarter" idx="3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altLang="zh-CN" sz="900" dirty="0"/>
              <a:t>Copyright © Sieyuan Electric Co., Ltd. All Rights Reserved. </a:t>
            </a:r>
            <a:r>
              <a:rPr lang="zh-CN" altLang="en-US" sz="900" dirty="0"/>
              <a:t>密级：保密</a:t>
            </a:r>
            <a:endParaRPr lang="en-US" altLang="zh-CN" sz="900" dirty="0"/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dirty="0">
                <a:latin typeface="+mj-lt"/>
                <a:ea typeface="微软雅黑" panose="020B0503020204020204" pitchFamily="34" charset="-122"/>
                <a:cs typeface="+mj-cs"/>
              </a:rPr>
              <a:t>项目管理</a:t>
            </a:r>
            <a:endParaRPr lang="zh-CN" altLang="en-US" dirty="0">
              <a:latin typeface="+mj-lt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381000" y="1143000"/>
            <a:ext cx="8229600" cy="3761105"/>
          </a:xfrm>
          <a:noFill/>
          <a:ln>
            <a:noFill/>
          </a:ln>
        </p:spPr>
        <p:txBody>
          <a:bodyPr/>
          <a:lstStyle/>
          <a:p>
            <a:pPr eaLnBrk="1" hangingPunct="1">
              <a:buClr>
                <a:srgbClr val="C00000"/>
              </a:buClr>
            </a:pPr>
            <a:r>
              <a:rPr lang="zh-CN" altLang="en-US" dirty="0">
                <a:latin typeface="+mn-lt"/>
                <a:ea typeface="微软雅黑" panose="020B0503020204020204" pitchFamily="34" charset="-122"/>
                <a:cs typeface="+mn-cs"/>
              </a:rPr>
              <a:t>项目进展：</a:t>
            </a:r>
            <a:endParaRPr lang="en-US" altLang="zh-CN" dirty="0">
              <a:latin typeface="+mn-lt"/>
              <a:ea typeface="微软雅黑" panose="020B0503020204020204" pitchFamily="34" charset="-122"/>
              <a:cs typeface="+mn-cs"/>
            </a:endParaRPr>
          </a:p>
          <a:p>
            <a:pPr lvl="1" eaLnBrk="1" hangingPunct="1"/>
            <a:r>
              <a:rPr lang="zh-CN" altLang="en-US" sz="1800" b="0" dirty="0">
                <a:latin typeface="+mn-lt"/>
                <a:ea typeface="微软雅黑" panose="020B0503020204020204" pitchFamily="34" charset="-122"/>
              </a:rPr>
              <a:t>截至</a:t>
            </a:r>
            <a:r>
              <a:rPr lang="en-US" altLang="zh-CN" sz="1800" b="0" dirty="0">
                <a:latin typeface="+mn-lt"/>
                <a:ea typeface="微软雅黑" panose="020B0503020204020204" pitchFamily="34" charset="-122"/>
              </a:rPr>
              <a:t>2024</a:t>
            </a:r>
            <a:r>
              <a:rPr lang="zh-CN" altLang="en-US" sz="1800" b="0" dirty="0">
                <a:latin typeface="+mn-lt"/>
                <a:ea typeface="微软雅黑" panose="020B0503020204020204" pitchFamily="34" charset="-122"/>
              </a:rPr>
              <a:t>年</a:t>
            </a:r>
            <a:r>
              <a:rPr lang="en-US" altLang="zh-CN" sz="1800" b="0" dirty="0">
                <a:latin typeface="+mn-lt"/>
                <a:ea typeface="微软雅黑" panose="020B0503020204020204" pitchFamily="34" charset="-122"/>
              </a:rPr>
              <a:t>11</a:t>
            </a:r>
            <a:r>
              <a:rPr lang="zh-CN" altLang="en-US" sz="1800" b="0" dirty="0">
                <a:latin typeface="+mn-lt"/>
                <a:ea typeface="微软雅黑" panose="020B0503020204020204" pitchFamily="34" charset="-122"/>
              </a:rPr>
              <a:t>月</a:t>
            </a:r>
            <a:r>
              <a:rPr lang="en-US" altLang="zh-CN" sz="1800" b="0" dirty="0">
                <a:latin typeface="+mn-lt"/>
                <a:ea typeface="微软雅黑" panose="020B0503020204020204" pitchFamily="34" charset="-122"/>
              </a:rPr>
              <a:t>13</a:t>
            </a:r>
            <a:r>
              <a:rPr lang="zh-CN" altLang="en-US" sz="1800" b="0" dirty="0">
                <a:latin typeface="+mn-lt"/>
                <a:ea typeface="微软雅黑" panose="020B0503020204020204" pitchFamily="34" charset="-122"/>
              </a:rPr>
              <a:t>日</a:t>
            </a:r>
            <a:endParaRPr lang="zh-CN" altLang="en-US" sz="1800" b="0" dirty="0">
              <a:latin typeface="+mn-lt"/>
              <a:ea typeface="微软雅黑" panose="020B0503020204020204" pitchFamily="34" charset="-122"/>
            </a:endParaRPr>
          </a:p>
          <a:p>
            <a:pPr lvl="2" eaLnBrk="1" hangingPunct="1"/>
            <a:r>
              <a:rPr lang="zh-CN" altLang="en-US" sz="1540" dirty="0">
                <a:latin typeface="+mn-lt"/>
                <a:ea typeface="微软雅黑" panose="020B0503020204020204" pitchFamily="34" charset="-122"/>
                <a:cs typeface="+mn-ea"/>
              </a:rPr>
              <a:t>完成全部功能开发</a:t>
            </a:r>
            <a:endParaRPr lang="en-US" altLang="zh-CN" sz="1540" dirty="0">
              <a:latin typeface="+mn-lt"/>
              <a:ea typeface="微软雅黑" panose="020B0503020204020204" pitchFamily="34" charset="-122"/>
              <a:cs typeface="+mn-ea"/>
            </a:endParaRPr>
          </a:p>
          <a:p>
            <a:pPr lvl="2" eaLnBrk="1" hangingPunct="1"/>
            <a:r>
              <a:rPr lang="zh-CN" altLang="en-US" sz="1540" dirty="0">
                <a:cs typeface="+mn-ea"/>
              </a:rPr>
              <a:t>在嵌入式装置海外</a:t>
            </a:r>
            <a:r>
              <a:rPr lang="en-US" altLang="zh-CN" sz="1540" dirty="0">
                <a:cs typeface="+mn-ea"/>
              </a:rPr>
              <a:t>TUV</a:t>
            </a:r>
            <a:r>
              <a:rPr lang="zh-CN" altLang="en-US" sz="1540" dirty="0">
                <a:cs typeface="+mn-ea"/>
              </a:rPr>
              <a:t>测试中试用</a:t>
            </a:r>
            <a:endParaRPr lang="en-US" altLang="zh-CN" sz="1540" dirty="0">
              <a:cs typeface="+mn-ea"/>
            </a:endParaRPr>
          </a:p>
          <a:p>
            <a:pPr lvl="2" eaLnBrk="1" hangingPunct="1"/>
            <a:r>
              <a:rPr lang="zh-CN" altLang="en-US" sz="1540" dirty="0">
                <a:latin typeface="+mn-lt"/>
                <a:ea typeface="微软雅黑" panose="020B0503020204020204" pitchFamily="34" charset="-122"/>
                <a:cs typeface="+mn-ea"/>
              </a:rPr>
              <a:t>在储能</a:t>
            </a:r>
            <a:r>
              <a:rPr lang="en-US" altLang="zh-CN" sz="1540" dirty="0">
                <a:latin typeface="+mn-lt"/>
                <a:ea typeface="微软雅黑" panose="020B0503020204020204" pitchFamily="34" charset="-122"/>
                <a:cs typeface="+mn-ea"/>
              </a:rPr>
              <a:t>EMS FHIP</a:t>
            </a:r>
            <a:r>
              <a:rPr lang="zh-CN" altLang="en-US" sz="1540" dirty="0">
                <a:latin typeface="+mn-lt"/>
                <a:ea typeface="微软雅黑" panose="020B0503020204020204" pitchFamily="34" charset="-122"/>
                <a:cs typeface="+mn-ea"/>
              </a:rPr>
              <a:t>平台英文版中试用</a:t>
            </a:r>
            <a:endParaRPr lang="zh-CN" altLang="en-US" sz="1540" dirty="0">
              <a:latin typeface="+mn-lt"/>
              <a:ea typeface="微软雅黑" panose="020B0503020204020204" pitchFamily="34" charset="-122"/>
              <a:cs typeface="+mn-ea"/>
            </a:endParaRPr>
          </a:p>
          <a:p>
            <a:pPr eaLnBrk="1" hangingPunct="1">
              <a:buClr>
                <a:srgbClr val="C00000"/>
              </a:buClr>
              <a:buFont typeface="Wingdings" panose="05000000000000000000" pitchFamily="2" charset="2"/>
              <a:buNone/>
            </a:pPr>
            <a:endParaRPr lang="zh-CN" altLang="en-US" dirty="0"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341" name="页脚占位符 4"/>
          <p:cNvSpPr txBox="1">
            <a:spLocks noGrp="1"/>
          </p:cNvSpPr>
          <p:nvPr>
            <p:ph type="ftr" sz="quarter" idx="3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altLang="zh-CN" sz="900" dirty="0"/>
              <a:t>Copyright © Sieyuan Electric Co., Ltd. All Rights Reserved. </a:t>
            </a:r>
            <a:r>
              <a:rPr lang="zh-CN" altLang="en-US" sz="900" dirty="0"/>
              <a:t>密级：保密</a:t>
            </a:r>
            <a:endParaRPr lang="en-US" altLang="zh-CN" sz="900" dirty="0"/>
          </a:p>
        </p:txBody>
      </p:sp>
      <p:sp>
        <p:nvSpPr>
          <p:cNvPr id="14342" name="灯片编号占位符 4"/>
          <p:cNvSpPr txBox="1">
            <a:spLocks noGrp="1"/>
          </p:cNvSpPr>
          <p:nvPr/>
        </p:nvSpPr>
        <p:spPr>
          <a:xfrm>
            <a:off x="8001000" y="6245225"/>
            <a:ext cx="685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r" eaLnBrk="1" hangingPunct="1"/>
            <a:fld id="{9A0DB2DC-4C9A-4742-B13C-FB6460FD3503}" type="slidenum"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/>
          <p:cNvSpPr>
            <a:spLocks noGrp="1"/>
          </p:cNvSpPr>
          <p:nvPr>
            <p:ph type="title"/>
          </p:nvPr>
        </p:nvSpPr>
        <p:spPr>
          <a:xfrm>
            <a:off x="381000" y="1071546"/>
            <a:ext cx="8229600" cy="4857784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项目进度计划</a:t>
            </a:r>
            <a:endParaRPr lang="zh-CN" altLang="en-US" dirty="0"/>
          </a:p>
        </p:txBody>
      </p:sp>
      <p:graphicFrame>
        <p:nvGraphicFramePr>
          <p:cNvPr id="2" name="Group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59105" y="2421255"/>
          <a:ext cx="8377555" cy="1882580"/>
        </p:xfrm>
        <a:graphic>
          <a:graphicData uri="http://schemas.openxmlformats.org/drawingml/2006/table">
            <a:tbl>
              <a:tblPr/>
              <a:tblGrid>
                <a:gridCol w="2379980"/>
                <a:gridCol w="1163955"/>
                <a:gridCol w="1688465"/>
                <a:gridCol w="3145155"/>
              </a:tblGrid>
              <a:tr h="353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里程碑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目标日期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实际完成日期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备注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51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Charter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通过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2024/3/10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2024/3/10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endParaRPr kumimoji="0" lang="zh-CN" altLang="zh-CN" sz="1600" b="0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94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TR1-TR3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2024/11/30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功能开发，完成</a:t>
                      </a:r>
                      <a:r>
                        <a:rPr lang="zh-CN" altLang="zh-CN" sz="1600" dirty="0">
                          <a:ln>
                            <a:noFill/>
                          </a:ln>
                          <a:effectLst/>
                          <a:latin typeface="+mn-ea"/>
                          <a:sym typeface="+mn-ea"/>
                        </a:rPr>
                        <a:t>模型管理、算法管理、镜像管理、数据标注、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数据集管理、训练任务的开发工作。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验收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DCP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2024/12/30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549" name="Text Box 7"/>
          <p:cNvSpPr txBox="1"/>
          <p:nvPr/>
        </p:nvSpPr>
        <p:spPr>
          <a:xfrm>
            <a:off x="2700338" y="1255713"/>
            <a:ext cx="1185862" cy="22701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algn="ctr" defTabSz="444500">
              <a:buClr>
                <a:srgbClr val="A2A2A2"/>
              </a:buClr>
              <a:buSzPct val="90000"/>
              <a:buFont typeface="Monotype Sorts" pitchFamily="2" charset="2"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Line 9"/>
          <p:cNvSpPr>
            <a:spLocks noChangeShapeType="1"/>
          </p:cNvSpPr>
          <p:nvPr/>
        </p:nvSpPr>
        <p:spPr bwMode="auto">
          <a:xfrm>
            <a:off x="1570038" y="1423988"/>
            <a:ext cx="0" cy="250825"/>
          </a:xfrm>
          <a:prstGeom prst="line">
            <a:avLst/>
          </a:prstGeom>
          <a:noFill/>
          <a:ln w="47477">
            <a:solidFill>
              <a:srgbClr val="000000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Line 12"/>
          <p:cNvSpPr>
            <a:spLocks noChangeShapeType="1"/>
          </p:cNvSpPr>
          <p:nvPr/>
        </p:nvSpPr>
        <p:spPr bwMode="auto">
          <a:xfrm>
            <a:off x="8316913" y="1425575"/>
            <a:ext cx="0" cy="282575"/>
          </a:xfrm>
          <a:prstGeom prst="line">
            <a:avLst/>
          </a:prstGeom>
          <a:noFill/>
          <a:ln w="47477">
            <a:solidFill>
              <a:srgbClr val="000000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Line 17"/>
          <p:cNvSpPr>
            <a:spLocks noChangeShapeType="1"/>
          </p:cNvSpPr>
          <p:nvPr/>
        </p:nvSpPr>
        <p:spPr bwMode="auto">
          <a:xfrm>
            <a:off x="1570038" y="1560513"/>
            <a:ext cx="6691313" cy="4763"/>
          </a:xfrm>
          <a:prstGeom prst="line">
            <a:avLst/>
          </a:prstGeom>
          <a:noFill/>
          <a:ln w="127000">
            <a:solidFill>
              <a:srgbClr val="3333CC"/>
            </a:solidFill>
            <a:round/>
            <a:tailEnd type="triangl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554" name="Text Box 19"/>
          <p:cNvSpPr txBox="1"/>
          <p:nvPr/>
        </p:nvSpPr>
        <p:spPr>
          <a:xfrm>
            <a:off x="6003925" y="1239838"/>
            <a:ext cx="1039813" cy="2286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algn="ctr" defTabSz="444500">
              <a:buClr>
                <a:srgbClr val="A2A2A2"/>
              </a:buClr>
              <a:buSzPct val="90000"/>
              <a:buFont typeface="Monotype Sorts" pitchFamily="2" charset="2"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55" name="Text Box 7"/>
          <p:cNvSpPr txBox="1"/>
          <p:nvPr/>
        </p:nvSpPr>
        <p:spPr>
          <a:xfrm>
            <a:off x="204788" y="1422400"/>
            <a:ext cx="1185862" cy="2270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algn="ctr" defTabSz="444500">
              <a:buClr>
                <a:srgbClr val="A2A2A2"/>
              </a:buClr>
              <a:buSzPct val="90000"/>
              <a:buFont typeface="Monotype Sorts" pitchFamily="2" charset="2"/>
            </a:pP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charter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57" name="矩形 19"/>
          <p:cNvSpPr/>
          <p:nvPr/>
        </p:nvSpPr>
        <p:spPr>
          <a:xfrm>
            <a:off x="7858125" y="1781175"/>
            <a:ext cx="900430" cy="33718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1600" dirty="0">
                <a:latin typeface="宋体" panose="02010600030101010101" pitchFamily="2" charset="-122"/>
              </a:rPr>
              <a:t>验收</a:t>
            </a:r>
            <a:r>
              <a:rPr lang="en-US" altLang="zh-CN" sz="1600" dirty="0">
                <a:latin typeface="宋体" panose="02010600030101010101" pitchFamily="2" charset="-122"/>
              </a:rPr>
              <a:t>DCP</a:t>
            </a:r>
            <a:endParaRPr lang="zh-CN" altLang="zh-CN" sz="1600" dirty="0">
              <a:latin typeface="宋体" panose="02010600030101010101" pitchFamily="2" charset="-122"/>
            </a:endParaRPr>
          </a:p>
        </p:txBody>
      </p:sp>
      <p:sp>
        <p:nvSpPr>
          <p:cNvPr id="21558" name="矩形 2"/>
          <p:cNvSpPr/>
          <p:nvPr/>
        </p:nvSpPr>
        <p:spPr>
          <a:xfrm>
            <a:off x="3048000" y="1679893"/>
            <a:ext cx="491490" cy="33718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1600" i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TR1</a:t>
            </a:r>
            <a:endParaRPr lang="en-US" altLang="zh-CN" sz="1600" i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559" name="矩形 21"/>
          <p:cNvSpPr/>
          <p:nvPr/>
        </p:nvSpPr>
        <p:spPr>
          <a:xfrm>
            <a:off x="5866765" y="1698625"/>
            <a:ext cx="491490" cy="33718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1600" i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TR2</a:t>
            </a:r>
            <a:endParaRPr lang="en-US" altLang="zh-CN" sz="1600" i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形 21"/>
          <p:cNvSpPr/>
          <p:nvPr/>
        </p:nvSpPr>
        <p:spPr>
          <a:xfrm>
            <a:off x="6933883" y="1697355"/>
            <a:ext cx="491490" cy="33718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1600" i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TR3</a:t>
            </a:r>
            <a:endParaRPr lang="en-US" altLang="zh-CN" sz="1600" i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246" name="页脚占位符 6"/>
          <p:cNvSpPr txBox="1">
            <a:spLocks noGrp="1"/>
          </p:cNvSpPr>
          <p:nvPr>
            <p:ph type="ftr" sz="quarter" idx="3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altLang="zh-CN" sz="900" dirty="0"/>
              <a:t>Copyright © Sieyuan Electric Co., Ltd. All Rights Reserved. </a:t>
            </a:r>
            <a:r>
              <a:rPr lang="zh-CN" altLang="en-US" sz="900" dirty="0"/>
              <a:t>密级：保密</a:t>
            </a:r>
            <a:endParaRPr lang="en-US" altLang="zh-CN" sz="900" dirty="0"/>
          </a:p>
        </p:txBody>
      </p:sp>
      <p:sp>
        <p:nvSpPr>
          <p:cNvPr id="14338" name="Rectangle 2"/>
          <p:cNvSpPr>
            <a:spLocks noGrp="1"/>
          </p:cNvSpPr>
          <p:nvPr/>
        </p:nvSpPr>
        <p:spPr>
          <a:xfrm>
            <a:off x="50800" y="152401"/>
            <a:ext cx="6578600" cy="6397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latin typeface="+mj-lt"/>
                <a:ea typeface="微软雅黑" panose="020B0503020204020204" pitchFamily="34" charset="-122"/>
                <a:cs typeface="+mj-cs"/>
              </a:rPr>
              <a:t>项目管理</a:t>
            </a:r>
            <a:endParaRPr lang="zh-CN" altLang="en-US" dirty="0">
              <a:latin typeface="+mj-lt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dirty="0">
                <a:latin typeface="+mj-lt"/>
                <a:ea typeface="微软雅黑" panose="020B0503020204020204" pitchFamily="34" charset="-122"/>
                <a:cs typeface="+mj-cs"/>
              </a:rPr>
              <a:t>项目管理</a:t>
            </a:r>
            <a:endParaRPr lang="zh-CN" altLang="en-US" dirty="0">
              <a:latin typeface="+mj-lt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23813" y="914400"/>
            <a:ext cx="8229600" cy="4572000"/>
          </a:xfrm>
          <a:noFill/>
          <a:ln>
            <a:noFill/>
          </a:ln>
        </p:spPr>
        <p:txBody>
          <a:bodyPr/>
          <a:lstStyle/>
          <a:p>
            <a:pPr eaLnBrk="1" hangingPunct="1">
              <a:buClr>
                <a:srgbClr val="C00000"/>
              </a:buClr>
            </a:pPr>
            <a:r>
              <a:rPr lang="zh-CN" altLang="en-US" dirty="0">
                <a:latin typeface="+mn-lt"/>
                <a:ea typeface="微软雅黑" panose="020B0503020204020204" pitchFamily="34" charset="-122"/>
                <a:cs typeface="+mn-cs"/>
              </a:rPr>
              <a:t>项目风险 ：</a:t>
            </a:r>
            <a:endParaRPr lang="zh-CN" altLang="en-US" dirty="0">
              <a:latin typeface="+mn-lt"/>
              <a:ea typeface="微软雅黑" panose="020B0503020204020204" pitchFamily="34" charset="-122"/>
              <a:cs typeface="+mn-cs"/>
            </a:endParaRPr>
          </a:p>
          <a:p>
            <a:pPr marL="457200" lvl="1" indent="0" eaLnBrk="1" hangingPunct="1">
              <a:buNone/>
            </a:pPr>
            <a:endParaRPr lang="en-US" altLang="zh-CN" dirty="0">
              <a:latin typeface="+mn-lt"/>
              <a:ea typeface="微软雅黑" panose="020B0503020204020204" pitchFamily="34" charset="-122"/>
            </a:endParaRPr>
          </a:p>
          <a:p>
            <a:pPr marL="0" indent="0" eaLnBrk="1" hangingPunct="1">
              <a:buClr>
                <a:srgbClr val="C00000"/>
              </a:buClr>
              <a:buNone/>
            </a:pPr>
            <a:endParaRPr lang="zh-CN" altLang="en-US" dirty="0"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438" name="页脚占位符 6"/>
          <p:cNvSpPr txBox="1">
            <a:spLocks noGrp="1"/>
          </p:cNvSpPr>
          <p:nvPr>
            <p:ph type="ftr" sz="quarter" idx="3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altLang="zh-CN" sz="900" dirty="0"/>
              <a:t>Copyright © Sieyuan Electric Co., Ltd. All Rights Reserved. </a:t>
            </a:r>
            <a:r>
              <a:rPr lang="zh-CN" altLang="en-US" sz="900" dirty="0"/>
              <a:t>密级：保密</a:t>
            </a:r>
            <a:endParaRPr lang="en-US" altLang="zh-CN" sz="900" dirty="0"/>
          </a:p>
        </p:txBody>
      </p:sp>
      <p:sp>
        <p:nvSpPr>
          <p:cNvPr id="15439" name="灯片编号占位符 4"/>
          <p:cNvSpPr txBox="1">
            <a:spLocks noGrp="1"/>
          </p:cNvSpPr>
          <p:nvPr/>
        </p:nvSpPr>
        <p:spPr>
          <a:xfrm>
            <a:off x="8001000" y="6245225"/>
            <a:ext cx="685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r" eaLnBrk="1" hangingPunct="1"/>
            <a:fld id="{9A0DB2DC-4C9A-4742-B13C-FB6460FD3503}" type="slidenum"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52400" y="1447800"/>
          <a:ext cx="8686800" cy="3235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940"/>
                <a:gridCol w="3389630"/>
                <a:gridCol w="2551430"/>
                <a:gridCol w="1219200"/>
                <a:gridCol w="990600"/>
              </a:tblGrid>
              <a:tr h="6203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风险描述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应对措施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责任人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风险状态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ym typeface="+mn-ea"/>
                        </a:rPr>
                        <a:t>可视化工具进度影响国际化语言开发环境人力投入</a:t>
                      </a:r>
                      <a:endParaRPr lang="zh-CN" altLang="en-US" sz="1600" dirty="0"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调整计划，预先完成关键功能</a:t>
                      </a:r>
                      <a:endParaRPr lang="zh-CN" sz="16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杨凡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已发生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47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72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zh-CN" altLang="en-US" sz="16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AutoShape 2"/>
          <p:cNvSpPr>
            <a:spLocks noChangeArrowheads="1"/>
          </p:cNvSpPr>
          <p:nvPr/>
        </p:nvSpPr>
        <p:spPr bwMode="gray">
          <a:xfrm>
            <a:off x="1066800" y="1371600"/>
            <a:ext cx="522288" cy="4572000"/>
          </a:xfrm>
          <a:prstGeom prst="roundRect">
            <a:avLst>
              <a:gd name="adj" fmla="val 16667"/>
            </a:avLst>
          </a:prstGeom>
          <a:solidFill>
            <a:srgbClr val="CBCDDF"/>
          </a:solidFill>
          <a:ln w="3175">
            <a:noFill/>
            <a:round/>
          </a:ln>
        </p:spPr>
        <p:txBody>
          <a:bodyPr wrap="none" lIns="90000" tIns="46800" rIns="90000" bIns="46800" anchor="ctr"/>
          <a:lstStyle/>
          <a:p>
            <a:pPr>
              <a:buFontTx/>
              <a:buChar char="•"/>
            </a:pPr>
            <a:endParaRPr lang="zh-CN" altLang="zh-CN" sz="900" i="1">
              <a:solidFill>
                <a:srgbClr val="120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4" name="灯片编号占位符 4"/>
          <p:cNvSpPr txBox="1">
            <a:spLocks noGrp="1"/>
          </p:cNvSpPr>
          <p:nvPr/>
        </p:nvSpPr>
        <p:spPr bwMode="auto">
          <a:xfrm>
            <a:off x="8153400" y="6245225"/>
            <a:ext cx="5334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r">
              <a:spcBef>
                <a:spcPct val="0"/>
              </a:spcBef>
              <a:buClrTx/>
              <a:buFontTx/>
              <a:buNone/>
            </a:pPr>
            <a:fld id="{5DEB0B31-78B2-4220-88E1-7694F8D03A4E}" type="slidenum"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z="18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0800" y="152400"/>
            <a:ext cx="6578600" cy="639763"/>
          </a:xfrm>
        </p:spPr>
        <p:txBody>
          <a:bodyPr/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  录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6" name="AutoShape 8"/>
          <p:cNvSpPr>
            <a:spLocks noChangeArrowheads="1"/>
          </p:cNvSpPr>
          <p:nvPr/>
        </p:nvSpPr>
        <p:spPr bwMode="gray">
          <a:xfrm>
            <a:off x="1270000" y="114300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0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7" name="AutoShape 8"/>
          <p:cNvSpPr>
            <a:spLocks noChangeArrowheads="1"/>
          </p:cNvSpPr>
          <p:nvPr/>
        </p:nvSpPr>
        <p:spPr bwMode="gray">
          <a:xfrm>
            <a:off x="1270000" y="51625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8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08200" y="5143500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Q&amp;A</a:t>
            </a:r>
            <a:endParaRPr lang="en-US" altLang="zh-CN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9" name="AutoShape 8"/>
          <p:cNvSpPr>
            <a:spLocks noChangeArrowheads="1"/>
          </p:cNvSpPr>
          <p:nvPr/>
        </p:nvSpPr>
        <p:spPr bwMode="gray">
          <a:xfrm>
            <a:off x="1260475" y="17843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098675" y="1177925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项目管理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1" name="AutoShape 8"/>
          <p:cNvSpPr>
            <a:spLocks noChangeArrowheads="1"/>
          </p:cNvSpPr>
          <p:nvPr/>
        </p:nvSpPr>
        <p:spPr bwMode="gray">
          <a:xfrm>
            <a:off x="1270000" y="312420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0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2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08200" y="1808163"/>
            <a:ext cx="5953125" cy="554037"/>
          </a:xfrm>
          <a:prstGeom prst="roundRect">
            <a:avLst>
              <a:gd name="adj" fmla="val 16667"/>
            </a:avLst>
          </a:prstGeom>
          <a:solidFill>
            <a:srgbClr val="28288A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质量管理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3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08200" y="3125787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财务指标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4" name="AutoShape 8"/>
          <p:cNvSpPr>
            <a:spLocks noChangeArrowheads="1"/>
          </p:cNvSpPr>
          <p:nvPr/>
        </p:nvSpPr>
        <p:spPr bwMode="gray">
          <a:xfrm>
            <a:off x="1270000" y="243840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5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17725" y="2452688"/>
            <a:ext cx="5953125" cy="554037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项目迁移计划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6" name="AutoShape 8"/>
          <p:cNvSpPr>
            <a:spLocks noChangeArrowheads="1"/>
          </p:cNvSpPr>
          <p:nvPr/>
        </p:nvSpPr>
        <p:spPr bwMode="gray">
          <a:xfrm>
            <a:off x="1270000" y="37909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7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17725" y="3783012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技术评审相关内容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8"/>
          <p:cNvSpPr>
            <a:spLocks noChangeArrowheads="1"/>
          </p:cNvSpPr>
          <p:nvPr/>
        </p:nvSpPr>
        <p:spPr bwMode="gray">
          <a:xfrm>
            <a:off x="1276350" y="44767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24075" y="4468812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遗留问题的状态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6" name="页脚占位符 6"/>
          <p:cNvSpPr txBox="1">
            <a:spLocks noGrp="1"/>
          </p:cNvSpPr>
          <p:nvPr/>
        </p:nvSpPr>
        <p:spPr>
          <a:xfrm>
            <a:off x="2819400" y="6248400"/>
            <a:ext cx="38100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altLang="zh-CN" sz="900" dirty="0"/>
              <a:t>Copyright © Sieyuan Electric Co., Ltd. All Rights Reserved. </a:t>
            </a:r>
            <a:r>
              <a:rPr lang="zh-CN" altLang="en-US" sz="900" dirty="0"/>
              <a:t>密级：保密</a:t>
            </a:r>
            <a:endParaRPr lang="en-US" altLang="zh-CN" sz="900" dirty="0"/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6934200" y="6245225"/>
            <a:ext cx="1752600" cy="476250"/>
          </a:xfrm>
        </p:spPr>
        <p:txBody>
          <a:bodyPr/>
          <a:lstStyle/>
          <a:p>
            <a:pPr>
              <a:defRPr/>
            </a:pPr>
            <a:fld id="{8D0D4EC9-95D6-468E-969C-8942EF278286}" type="slidenum">
              <a:rPr lang="en-US" altLang="zh-CN" sz="1800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" y="152400"/>
            <a:ext cx="6578600" cy="639763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质量管理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304800" y="1066800"/>
            <a:ext cx="8077200" cy="101473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708688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 eaLnBrk="0" hangingPunct="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v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v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v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v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交付物配置状态审计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ct val="50000"/>
              </a:spcBef>
            </a:pP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本阶提交文档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份</a:t>
            </a:r>
            <a:endParaRPr lang="en-US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1505" y="2132965"/>
            <a:ext cx="807593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spcBef>
                <a:spcPct val="50000"/>
              </a:spcBef>
              <a:buNone/>
              <a:defRPr/>
            </a:pP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重要交付文档清单：  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ct val="50000"/>
              </a:spcBef>
              <a:buNone/>
              <a:defRPr/>
            </a:pP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《PM2024093-国际化开发环境-技术需求规格书_V1.0》</a:t>
            </a:r>
            <a:endParaRPr lang="zh-CN" altLang="en-US" sz="1800" b="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spcBef>
                <a:spcPct val="50000"/>
              </a:spcBef>
              <a:buNone/>
              <a:defRPr/>
            </a:pP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《1.2-国际化语言环境-词条翻译工具设计方案》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spcBef>
                <a:spcPct val="50000"/>
              </a:spcBef>
              <a:buNone/>
              <a:defRPr/>
            </a:pP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《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1.1-词条翻译工具操作手册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》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spcBef>
                <a:spcPct val="50000"/>
              </a:spcBef>
              <a:buNone/>
              <a:defRPr/>
            </a:pPr>
            <a:endParaRPr lang="zh-CN" altLang="en-US" sz="1800" b="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246" name="页脚占位符 6"/>
          <p:cNvSpPr txBox="1">
            <a:spLocks noGrp="1"/>
          </p:cNvSpPr>
          <p:nvPr>
            <p:ph type="ftr" sz="quarter" idx="3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altLang="zh-CN" sz="900" dirty="0"/>
              <a:t>Copyright © Sieyuan Electric Co., Ltd. All Rights Reserved. </a:t>
            </a:r>
            <a:r>
              <a:rPr lang="zh-CN" altLang="en-US" sz="900" dirty="0"/>
              <a:t>密级：保密</a:t>
            </a:r>
            <a:endParaRPr lang="en-US" altLang="zh-CN" sz="900" dirty="0"/>
          </a:p>
        </p:txBody>
      </p: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AutoShape 2"/>
          <p:cNvSpPr>
            <a:spLocks noChangeArrowheads="1"/>
          </p:cNvSpPr>
          <p:nvPr/>
        </p:nvSpPr>
        <p:spPr bwMode="gray">
          <a:xfrm>
            <a:off x="1066800" y="1371600"/>
            <a:ext cx="522288" cy="4572000"/>
          </a:xfrm>
          <a:prstGeom prst="roundRect">
            <a:avLst>
              <a:gd name="adj" fmla="val 16667"/>
            </a:avLst>
          </a:prstGeom>
          <a:solidFill>
            <a:srgbClr val="CBCDDF"/>
          </a:solidFill>
          <a:ln w="3175">
            <a:noFill/>
            <a:round/>
          </a:ln>
        </p:spPr>
        <p:txBody>
          <a:bodyPr wrap="none" lIns="90000" tIns="46800" rIns="90000" bIns="46800" anchor="ctr"/>
          <a:lstStyle/>
          <a:p>
            <a:pPr>
              <a:buFontTx/>
              <a:buChar char="•"/>
            </a:pPr>
            <a:endParaRPr lang="zh-CN" altLang="zh-CN" sz="900" i="1">
              <a:solidFill>
                <a:srgbClr val="120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4" name="灯片编号占位符 4"/>
          <p:cNvSpPr txBox="1">
            <a:spLocks noGrp="1"/>
          </p:cNvSpPr>
          <p:nvPr/>
        </p:nvSpPr>
        <p:spPr bwMode="auto">
          <a:xfrm>
            <a:off x="8153400" y="6245225"/>
            <a:ext cx="5334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r">
              <a:spcBef>
                <a:spcPct val="0"/>
              </a:spcBef>
              <a:buClrTx/>
              <a:buFontTx/>
              <a:buNone/>
            </a:pPr>
            <a:fld id="{5DEB0B31-78B2-4220-88E1-7694F8D03A4E}" type="slidenum"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z="18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0800" y="152400"/>
            <a:ext cx="6578600" cy="639763"/>
          </a:xfrm>
        </p:spPr>
        <p:txBody>
          <a:bodyPr/>
          <a:lstStyle/>
          <a:p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目  录</a:t>
            </a:r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6" name="AutoShape 8"/>
          <p:cNvSpPr>
            <a:spLocks noChangeArrowheads="1"/>
          </p:cNvSpPr>
          <p:nvPr/>
        </p:nvSpPr>
        <p:spPr bwMode="gray">
          <a:xfrm>
            <a:off x="1270000" y="114300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0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7" name="AutoShape 8"/>
          <p:cNvSpPr>
            <a:spLocks noChangeArrowheads="1"/>
          </p:cNvSpPr>
          <p:nvPr/>
        </p:nvSpPr>
        <p:spPr bwMode="gray">
          <a:xfrm>
            <a:off x="1270000" y="51625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8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08200" y="5143500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Q&amp;A</a:t>
            </a:r>
            <a:endParaRPr lang="en-US" altLang="zh-CN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9" name="AutoShape 8"/>
          <p:cNvSpPr>
            <a:spLocks noChangeArrowheads="1"/>
          </p:cNvSpPr>
          <p:nvPr/>
        </p:nvSpPr>
        <p:spPr bwMode="gray">
          <a:xfrm>
            <a:off x="1260475" y="17843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098675" y="1177925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项目管理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1" name="AutoShape 8"/>
          <p:cNvSpPr>
            <a:spLocks noChangeArrowheads="1"/>
          </p:cNvSpPr>
          <p:nvPr/>
        </p:nvSpPr>
        <p:spPr bwMode="gray">
          <a:xfrm>
            <a:off x="1270000" y="312420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0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2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08200" y="1808163"/>
            <a:ext cx="5953125" cy="554037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质量管理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3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08200" y="3125787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财务指标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4" name="AutoShape 8"/>
          <p:cNvSpPr>
            <a:spLocks noChangeArrowheads="1"/>
          </p:cNvSpPr>
          <p:nvPr/>
        </p:nvSpPr>
        <p:spPr bwMode="gray">
          <a:xfrm>
            <a:off x="1270000" y="243840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5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17725" y="2452688"/>
            <a:ext cx="5953125" cy="554037"/>
          </a:xfrm>
          <a:prstGeom prst="roundRect">
            <a:avLst>
              <a:gd name="adj" fmla="val 16667"/>
            </a:avLst>
          </a:prstGeom>
          <a:solidFill>
            <a:srgbClr val="28288A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项目迁移计划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6" name="AutoShape 8"/>
          <p:cNvSpPr>
            <a:spLocks noChangeArrowheads="1"/>
          </p:cNvSpPr>
          <p:nvPr/>
        </p:nvSpPr>
        <p:spPr bwMode="gray">
          <a:xfrm>
            <a:off x="1270000" y="37909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7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17725" y="3783012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技术评审相关内容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8"/>
          <p:cNvSpPr>
            <a:spLocks noChangeArrowheads="1"/>
          </p:cNvSpPr>
          <p:nvPr/>
        </p:nvSpPr>
        <p:spPr bwMode="gray">
          <a:xfrm>
            <a:off x="1276350" y="44767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24075" y="4468812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遗留问题的状态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6" name="页脚占位符 6"/>
          <p:cNvSpPr txBox="1">
            <a:spLocks noGrp="1"/>
          </p:cNvSpPr>
          <p:nvPr/>
        </p:nvSpPr>
        <p:spPr>
          <a:xfrm>
            <a:off x="2819400" y="6248400"/>
            <a:ext cx="38100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altLang="zh-CN" sz="900" dirty="0"/>
              <a:t>Copyright © Sieyuan Electric Co., Ltd. All Rights Reserved. </a:t>
            </a:r>
            <a:r>
              <a:rPr lang="zh-CN" altLang="en-US" sz="900" dirty="0"/>
              <a:t>密级：保密</a:t>
            </a:r>
            <a:endParaRPr lang="en-US" altLang="zh-CN" sz="900" dirty="0"/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/>
          <p:cNvSpPr>
            <a:spLocks noGrp="1"/>
          </p:cNvSpPr>
          <p:nvPr>
            <p:ph type="title"/>
          </p:nvPr>
        </p:nvSpPr>
        <p:spPr>
          <a:xfrm>
            <a:off x="381000" y="1071546"/>
            <a:ext cx="8229600" cy="4857784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1600" dirty="0"/>
              <a:t>迁移计划</a:t>
            </a:r>
            <a:endParaRPr lang="zh-CN" altLang="en-US" sz="1600" dirty="0"/>
          </a:p>
        </p:txBody>
      </p:sp>
      <p:sp>
        <p:nvSpPr>
          <p:cNvPr id="22530" name="内容占位符 2"/>
          <p:cNvSpPr>
            <a:spLocks noGrp="1"/>
          </p:cNvSpPr>
          <p:nvPr>
            <p:ph idx="1" hasCustomPrompt="1"/>
          </p:nvPr>
        </p:nvSpPr>
        <p:spPr>
          <a:xfrm>
            <a:off x="381000" y="1071563"/>
            <a:ext cx="8229600" cy="4857750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sz="1600" dirty="0"/>
              <a:t>开发项目的迁移计划</a:t>
            </a:r>
            <a:endParaRPr lang="zh-CN" altLang="en-US" sz="1600" dirty="0"/>
          </a:p>
        </p:txBody>
      </p:sp>
      <p:sp>
        <p:nvSpPr>
          <p:cNvPr id="4" name="矩形 3"/>
          <p:cNvSpPr/>
          <p:nvPr/>
        </p:nvSpPr>
        <p:spPr>
          <a:xfrm>
            <a:off x="2962275" y="1590675"/>
            <a:ext cx="5648325" cy="24974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532" name="文本框 8"/>
          <p:cNvSpPr txBox="1"/>
          <p:nvPr/>
        </p:nvSpPr>
        <p:spPr>
          <a:xfrm>
            <a:off x="784225" y="2967038"/>
            <a:ext cx="1202055" cy="337185"/>
          </a:xfrm>
          <a:prstGeom prst="rect">
            <a:avLst/>
          </a:prstGeom>
          <a:solidFill>
            <a:srgbClr val="92D05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lstStyle/>
          <a:p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本开发项目</a:t>
            </a:r>
            <a:endParaRPr lang="zh-CN" altLang="en-US" sz="1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3149600" y="5360988"/>
            <a:ext cx="5281613" cy="127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776788" y="5267325"/>
            <a:ext cx="206375" cy="198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904038" y="5267325"/>
            <a:ext cx="206375" cy="198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536" name="文本框 36"/>
          <p:cNvSpPr txBox="1"/>
          <p:nvPr/>
        </p:nvSpPr>
        <p:spPr>
          <a:xfrm>
            <a:off x="6026150" y="2094178"/>
            <a:ext cx="2529840" cy="338554"/>
          </a:xfrm>
          <a:prstGeom prst="rect">
            <a:avLst/>
          </a:prstGeom>
          <a:solidFill>
            <a:srgbClr val="92D050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EMS</a:t>
            </a:r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国际版</a:t>
            </a:r>
            <a:endParaRPr lang="zh-CN" altLang="en-US" sz="1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7" name="文本框 37"/>
          <p:cNvSpPr txBox="1"/>
          <p:nvPr/>
        </p:nvSpPr>
        <p:spPr>
          <a:xfrm>
            <a:off x="3149600" y="2078038"/>
            <a:ext cx="958850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智能运维及安全</a:t>
            </a: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PDT</a:t>
            </a:r>
            <a:endParaRPr lang="en-US" altLang="zh-CN" sz="1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8" name="直接连接符 7"/>
          <p:cNvCxnSpPr>
            <a:stCxn id="6" idx="0"/>
          </p:cNvCxnSpPr>
          <p:nvPr/>
        </p:nvCxnSpPr>
        <p:spPr>
          <a:xfrm flipV="1">
            <a:off x="4879975" y="1590675"/>
            <a:ext cx="0" cy="367665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stCxn id="6" idx="0"/>
          </p:cNvCxnSpPr>
          <p:nvPr/>
        </p:nvCxnSpPr>
        <p:spPr>
          <a:xfrm flipV="1">
            <a:off x="7004050" y="1576388"/>
            <a:ext cx="0" cy="367665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肘形连接符 49"/>
          <p:cNvCxnSpPr>
            <a:stCxn id="22532" idx="3"/>
          </p:cNvCxnSpPr>
          <p:nvPr/>
        </p:nvCxnSpPr>
        <p:spPr>
          <a:xfrm flipV="1">
            <a:off x="1986280" y="2288382"/>
            <a:ext cx="3992563" cy="847249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542" name="文本框 34"/>
          <p:cNvSpPr txBox="1"/>
          <p:nvPr/>
        </p:nvSpPr>
        <p:spPr>
          <a:xfrm>
            <a:off x="4495800" y="5568950"/>
            <a:ext cx="846707" cy="338554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1600" dirty="0"/>
              <a:t>2024</a:t>
            </a:r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年</a:t>
            </a:r>
            <a:endParaRPr lang="en-US" altLang="zh-CN" sz="1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/>
        </p:nvSpPr>
        <p:spPr>
          <a:xfrm>
            <a:off x="50800" y="152400"/>
            <a:ext cx="6578600" cy="639763"/>
          </a:xfr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项目迁移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6" name="页脚占位符 6"/>
          <p:cNvSpPr txBox="1">
            <a:spLocks noGrp="1"/>
          </p:cNvSpPr>
          <p:nvPr>
            <p:ph type="ftr" sz="quarter" idx="3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altLang="zh-CN" sz="900" dirty="0"/>
              <a:t>Copyright © Sieyuan Electric Co., Ltd. All Rights Reserved. </a:t>
            </a:r>
            <a:r>
              <a:rPr lang="zh-CN" altLang="en-US" sz="900" dirty="0"/>
              <a:t>密级：保密</a:t>
            </a:r>
            <a:endParaRPr lang="en-US" altLang="zh-CN" sz="900" dirty="0"/>
          </a:p>
        </p:txBody>
      </p:sp>
      <p:sp>
        <p:nvSpPr>
          <p:cNvPr id="2" name="文本框 37"/>
          <p:cNvSpPr txBox="1"/>
          <p:nvPr/>
        </p:nvSpPr>
        <p:spPr>
          <a:xfrm>
            <a:off x="3133756" y="2965609"/>
            <a:ext cx="958850" cy="5847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变电</a:t>
            </a: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PDT</a:t>
            </a:r>
            <a:endParaRPr lang="en-US" altLang="zh-CN" sz="1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36"/>
          <p:cNvSpPr txBox="1"/>
          <p:nvPr/>
        </p:nvSpPr>
        <p:spPr>
          <a:xfrm>
            <a:off x="6026150" y="3014769"/>
            <a:ext cx="2529840" cy="338554"/>
          </a:xfrm>
          <a:prstGeom prst="rect">
            <a:avLst/>
          </a:prstGeom>
          <a:solidFill>
            <a:srgbClr val="92D050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海外馈线保护</a:t>
            </a:r>
            <a:endParaRPr lang="zh-CN" altLang="en-US" sz="1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2" name="肘形连接符 49"/>
          <p:cNvCxnSpPr>
            <a:stCxn id="22532" idx="3"/>
          </p:cNvCxnSpPr>
          <p:nvPr/>
        </p:nvCxnSpPr>
        <p:spPr>
          <a:xfrm>
            <a:off x="1986280" y="3135631"/>
            <a:ext cx="3992563" cy="7012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AutoShape 2"/>
          <p:cNvSpPr>
            <a:spLocks noChangeArrowheads="1"/>
          </p:cNvSpPr>
          <p:nvPr/>
        </p:nvSpPr>
        <p:spPr bwMode="gray">
          <a:xfrm>
            <a:off x="1066800" y="1371600"/>
            <a:ext cx="522288" cy="4572000"/>
          </a:xfrm>
          <a:prstGeom prst="roundRect">
            <a:avLst>
              <a:gd name="adj" fmla="val 16667"/>
            </a:avLst>
          </a:prstGeom>
          <a:solidFill>
            <a:srgbClr val="CBCDDF"/>
          </a:solidFill>
          <a:ln w="3175">
            <a:noFill/>
            <a:round/>
          </a:ln>
        </p:spPr>
        <p:txBody>
          <a:bodyPr wrap="none" lIns="90000" tIns="46800" rIns="90000" bIns="46800" anchor="ctr"/>
          <a:lstStyle/>
          <a:p>
            <a:pPr>
              <a:buFontTx/>
              <a:buChar char="•"/>
            </a:pPr>
            <a:endParaRPr lang="zh-CN" altLang="zh-CN" sz="900" i="1">
              <a:solidFill>
                <a:srgbClr val="120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4" name="灯片编号占位符 4"/>
          <p:cNvSpPr txBox="1">
            <a:spLocks noGrp="1"/>
          </p:cNvSpPr>
          <p:nvPr/>
        </p:nvSpPr>
        <p:spPr bwMode="auto">
          <a:xfrm>
            <a:off x="8153400" y="6245225"/>
            <a:ext cx="5334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r">
              <a:spcBef>
                <a:spcPct val="0"/>
              </a:spcBef>
              <a:buClrTx/>
              <a:buFontTx/>
              <a:buNone/>
            </a:pPr>
            <a:fld id="{5DEB0B31-78B2-4220-88E1-7694F8D03A4E}" type="slidenum"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z="18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0800" y="152400"/>
            <a:ext cx="6578600" cy="639763"/>
          </a:xfrm>
        </p:spPr>
        <p:txBody>
          <a:bodyPr/>
          <a:lstStyle/>
          <a:p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目  录</a:t>
            </a:r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6" name="AutoShape 8"/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1270000" y="114300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0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7" name="AutoShape 8"/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1270000" y="51625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8" name="AutoShape 6">
            <a:hlinkClick r:id="rId3" action="ppaction://hlinksldjump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2108200" y="5143500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Q&amp;A</a:t>
            </a:r>
            <a:endParaRPr lang="en-US" altLang="zh-CN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9" name="AutoShape 8"/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1260475" y="17843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AutoShape 6">
            <a:hlinkClick r:id="rId3" action="ppaction://hlinksldjump"/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2098675" y="1177925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项目管理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1" name="AutoShape 8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1270000" y="312420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0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2" name="AutoShape 6">
            <a:hlinkClick r:id="rId3" action="ppaction://hlinksldjump"/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2108200" y="1808163"/>
            <a:ext cx="5953125" cy="554037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质量管理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3" name="AutoShape 6">
            <a:hlinkClick r:id="rId3" action="ppaction://hlinksldjump"/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gray">
          <a:xfrm>
            <a:off x="2108200" y="3125787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28288A"/>
          </a:solidFill>
          <a:ln w="3175" algn="ctr">
            <a:noFill/>
            <a:round/>
          </a:ln>
        </p:spPr>
        <p:txBody>
          <a:bodyPr wrap="none" lIns="90000" tIns="46800" rIns="90000" bIns="46800" anchor="ctr">
            <a:noAutofit/>
          </a:bodyPr>
          <a:lstStyle/>
          <a:p>
            <a:pPr lvl="0" algn="l">
              <a:spcBef>
                <a:spcPct val="40000"/>
              </a:spcBef>
              <a:buClr>
                <a:srgbClr val="EB8B18"/>
              </a:buClr>
              <a:buSzTx/>
              <a:buFontTx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财务指标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1694" name="AutoShape 8"/>
          <p:cNvSpPr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1270000" y="243840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5" name="AutoShape 6">
            <a:hlinkClick r:id="rId3" action="ppaction://hlinksldjump"/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gray">
          <a:xfrm>
            <a:off x="2117725" y="2452688"/>
            <a:ext cx="5953125" cy="554037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项目迁移计划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6" name="AutoShape 8"/>
          <p:cNvSpPr>
            <a:spLocks noChangeArrowheads="1"/>
          </p:cNvSpPr>
          <p:nvPr>
            <p:custDataLst>
              <p:tags r:id="rId12"/>
            </p:custDataLst>
          </p:nvPr>
        </p:nvSpPr>
        <p:spPr bwMode="gray">
          <a:xfrm>
            <a:off x="1270000" y="37909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7" name="AutoShape 6">
            <a:hlinkClick r:id="rId3" action="ppaction://hlinksldjump"/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gray">
          <a:xfrm>
            <a:off x="2117725" y="3783012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>
            <a:noAutofit/>
          </a:bodyPr>
          <a:lstStyle/>
          <a:p>
            <a:pPr lvl="0" algn="l">
              <a:spcBef>
                <a:spcPct val="40000"/>
              </a:spcBef>
              <a:buClr>
                <a:srgbClr val="EB8B18"/>
              </a:buClr>
              <a:buSzTx/>
              <a:buFontTx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技术评审相关内容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AutoShape 8"/>
          <p:cNvSpPr>
            <a:spLocks noChangeArrowheads="1"/>
          </p:cNvSpPr>
          <p:nvPr>
            <p:custDataLst>
              <p:tags r:id="rId14"/>
            </p:custDataLst>
          </p:nvPr>
        </p:nvSpPr>
        <p:spPr bwMode="gray">
          <a:xfrm>
            <a:off x="1276350" y="44767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6">
            <a:hlinkClick r:id="rId3" action="ppaction://hlinksldjump"/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gray">
          <a:xfrm>
            <a:off x="2124075" y="4468812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遗留问题的状态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6" name="页脚占位符 6"/>
          <p:cNvSpPr txBox="1">
            <a:spLocks noGrp="1"/>
          </p:cNvSpPr>
          <p:nvPr/>
        </p:nvSpPr>
        <p:spPr>
          <a:xfrm>
            <a:off x="2819400" y="6248400"/>
            <a:ext cx="38100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altLang="zh-CN" sz="900" dirty="0"/>
              <a:t>Copyright © Sieyuan Electric Co., Ltd. All Rights Reserved. </a:t>
            </a:r>
            <a:r>
              <a:rPr lang="zh-CN" altLang="en-US" sz="900" dirty="0"/>
              <a:t>密级：保密</a:t>
            </a:r>
            <a:endParaRPr lang="en-US" altLang="zh-CN" sz="900" dirty="0"/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5" name="Rectangle 2"/>
          <p:cNvSpPr>
            <a:spLocks noGrp="1" noChangeArrowheads="1"/>
          </p:cNvSpPr>
          <p:nvPr/>
        </p:nvSpPr>
        <p:spPr>
          <a:xfrm>
            <a:off x="50800" y="152400"/>
            <a:ext cx="6578600" cy="639763"/>
          </a:xfr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财务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指标</a:t>
            </a:r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5800" y="1295400"/>
            <a:ext cx="807593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086100" lvl="6" indent="457200">
              <a:spcBef>
                <a:spcPct val="50000"/>
              </a:spcBef>
              <a:buNone/>
              <a:defRPr/>
            </a:pP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预算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	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实际</a:t>
            </a:r>
            <a:endParaRPr lang="zh-CN" altLang="en-US" sz="1800" b="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spcBef>
                <a:spcPct val="50000"/>
              </a:spcBef>
              <a:buNone/>
              <a:defRPr/>
            </a:pPr>
            <a:endParaRPr lang="zh-CN" altLang="en-US" sz="1800" b="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spcBef>
                <a:spcPct val="50000"/>
              </a:spcBef>
              <a:buNone/>
              <a:defRPr/>
            </a:pP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人力投入：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人月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1800" b="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spcBef>
                <a:spcPct val="50000"/>
              </a:spcBef>
              <a:buNone/>
              <a:defRPr/>
            </a:pPr>
            <a:endParaRPr lang="zh-CN" altLang="en-US" sz="1800" b="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spcBef>
                <a:spcPct val="50000"/>
              </a:spcBef>
              <a:buNone/>
              <a:defRPr/>
            </a:pP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资料及信息服务费用：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	1w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	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</a:t>
            </a:r>
            <a:endParaRPr lang="zh-CN" altLang="en-US" sz="1800" b="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spcBef>
                <a:spcPct val="50000"/>
              </a:spcBef>
              <a:buNone/>
              <a:defRPr/>
            </a:pPr>
            <a:endParaRPr lang="zh-CN" altLang="en-US" sz="1800" b="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spcBef>
                <a:spcPct val="50000"/>
              </a:spcBef>
              <a:buNone/>
              <a:defRPr/>
            </a:pP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研发材料费用：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		2w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	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AutoShape 2"/>
          <p:cNvSpPr>
            <a:spLocks noChangeArrowheads="1"/>
          </p:cNvSpPr>
          <p:nvPr/>
        </p:nvSpPr>
        <p:spPr bwMode="gray">
          <a:xfrm>
            <a:off x="1066800" y="1371600"/>
            <a:ext cx="522288" cy="4572000"/>
          </a:xfrm>
          <a:prstGeom prst="roundRect">
            <a:avLst>
              <a:gd name="adj" fmla="val 16667"/>
            </a:avLst>
          </a:prstGeom>
          <a:solidFill>
            <a:srgbClr val="CBCDDF"/>
          </a:solidFill>
          <a:ln w="3175">
            <a:noFill/>
            <a:round/>
          </a:ln>
        </p:spPr>
        <p:txBody>
          <a:bodyPr wrap="none" lIns="90000" tIns="46800" rIns="90000" bIns="46800" anchor="ctr"/>
          <a:lstStyle/>
          <a:p>
            <a:pPr>
              <a:buFontTx/>
              <a:buChar char="•"/>
            </a:pPr>
            <a:endParaRPr lang="zh-CN" altLang="zh-CN" sz="900" i="1">
              <a:solidFill>
                <a:srgbClr val="120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4" name="灯片编号占位符 4"/>
          <p:cNvSpPr txBox="1">
            <a:spLocks noGrp="1"/>
          </p:cNvSpPr>
          <p:nvPr/>
        </p:nvSpPr>
        <p:spPr bwMode="auto">
          <a:xfrm>
            <a:off x="8153400" y="6245225"/>
            <a:ext cx="5334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r">
              <a:spcBef>
                <a:spcPct val="0"/>
              </a:spcBef>
              <a:buClrTx/>
              <a:buFontTx/>
              <a:buNone/>
            </a:pPr>
            <a:fld id="{5DEB0B31-78B2-4220-88E1-7694F8D03A4E}" type="slidenum"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z="18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0800" y="152400"/>
            <a:ext cx="6578600" cy="639763"/>
          </a:xfrm>
        </p:spPr>
        <p:txBody>
          <a:bodyPr/>
          <a:lstStyle/>
          <a:p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目  录</a:t>
            </a:r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6" name="AutoShape 8"/>
          <p:cNvSpPr>
            <a:spLocks noChangeArrowheads="1"/>
          </p:cNvSpPr>
          <p:nvPr/>
        </p:nvSpPr>
        <p:spPr bwMode="gray">
          <a:xfrm>
            <a:off x="1270000" y="114300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0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7" name="AutoShape 8"/>
          <p:cNvSpPr>
            <a:spLocks noChangeArrowheads="1"/>
          </p:cNvSpPr>
          <p:nvPr/>
        </p:nvSpPr>
        <p:spPr bwMode="gray">
          <a:xfrm>
            <a:off x="1270000" y="51625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8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08200" y="5143500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Q&amp;A</a:t>
            </a:r>
            <a:endParaRPr lang="en-US" altLang="zh-CN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9" name="AutoShape 8"/>
          <p:cNvSpPr>
            <a:spLocks noChangeArrowheads="1"/>
          </p:cNvSpPr>
          <p:nvPr/>
        </p:nvSpPr>
        <p:spPr bwMode="gray">
          <a:xfrm>
            <a:off x="1260475" y="17843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098675" y="1177925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项目管理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1" name="AutoShape 8"/>
          <p:cNvSpPr>
            <a:spLocks noChangeArrowheads="1"/>
          </p:cNvSpPr>
          <p:nvPr/>
        </p:nvSpPr>
        <p:spPr bwMode="gray">
          <a:xfrm>
            <a:off x="1270000" y="312420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0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2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08200" y="1808163"/>
            <a:ext cx="5953125" cy="554037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质量管理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3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08200" y="3125787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财务指标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4" name="AutoShape 8"/>
          <p:cNvSpPr>
            <a:spLocks noChangeArrowheads="1"/>
          </p:cNvSpPr>
          <p:nvPr/>
        </p:nvSpPr>
        <p:spPr bwMode="gray">
          <a:xfrm>
            <a:off x="1270000" y="243840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5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17725" y="2452688"/>
            <a:ext cx="5953125" cy="554037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项目迁移计划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6" name="AutoShape 8"/>
          <p:cNvSpPr>
            <a:spLocks noChangeArrowheads="1"/>
          </p:cNvSpPr>
          <p:nvPr/>
        </p:nvSpPr>
        <p:spPr bwMode="gray">
          <a:xfrm>
            <a:off x="1270000" y="37909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7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17725" y="3783012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28288A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技术评审相关内容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8"/>
          <p:cNvSpPr>
            <a:spLocks noChangeArrowheads="1"/>
          </p:cNvSpPr>
          <p:nvPr/>
        </p:nvSpPr>
        <p:spPr bwMode="gray">
          <a:xfrm>
            <a:off x="1276350" y="44767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24075" y="4468812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遗留问题的状态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6" name="页脚占位符 6"/>
          <p:cNvSpPr txBox="1">
            <a:spLocks noGrp="1"/>
          </p:cNvSpPr>
          <p:nvPr/>
        </p:nvSpPr>
        <p:spPr>
          <a:xfrm>
            <a:off x="2819400" y="6248400"/>
            <a:ext cx="38100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altLang="zh-CN" sz="900" dirty="0"/>
              <a:t>Copyright © Sieyuan Electric Co., Ltd. All Rights Reserved. </a:t>
            </a:r>
            <a:r>
              <a:rPr lang="zh-CN" altLang="en-US" sz="900" dirty="0"/>
              <a:t>密级：保密</a:t>
            </a:r>
            <a:endParaRPr lang="en-US" altLang="zh-CN" sz="900" dirty="0"/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/>
          <p:nvPr/>
        </p:nvSpPr>
        <p:spPr>
          <a:xfrm>
            <a:off x="394626" y="990684"/>
            <a:ext cx="8355423" cy="4946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700" spc="150" dirty="0">
                <a:solidFill>
                  <a:srgbClr val="023E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国际化语言开发环境技术架构</a:t>
            </a:r>
            <a:endParaRPr lang="zh-CN" altLang="en-US" sz="2700" b="1" spc="1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+mn-lt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246" name="页脚占位符 6"/>
          <p:cNvSpPr txBox="1">
            <a:spLocks noGrp="1"/>
          </p:cNvSpPr>
          <p:nvPr/>
        </p:nvSpPr>
        <p:spPr>
          <a:xfrm>
            <a:off x="2819400" y="6248400"/>
            <a:ext cx="38100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altLang="zh-CN" sz="900" dirty="0"/>
              <a:t>Copyright © Sieyuan Electric Co., Ltd. All Rights Reserved. </a:t>
            </a:r>
            <a:r>
              <a:rPr lang="zh-CN" altLang="en-US" sz="900" dirty="0"/>
              <a:t>密级：保密</a:t>
            </a:r>
            <a:endParaRPr lang="en-US" altLang="zh-CN" sz="900" dirty="0"/>
          </a:p>
        </p:txBody>
      </p:sp>
      <p:sp>
        <p:nvSpPr>
          <p:cNvPr id="9" name="Rectangle 2"/>
          <p:cNvSpPr>
            <a:spLocks noGrp="1" noChangeArrowheads="1"/>
          </p:cNvSpPr>
          <p:nvPr/>
        </p:nvSpPr>
        <p:spPr>
          <a:xfrm>
            <a:off x="50800" y="152400"/>
            <a:ext cx="6578600" cy="639763"/>
          </a:xfr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平台设计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技术架构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600200"/>
            <a:ext cx="5631180" cy="450469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/>
          <p:nvPr/>
        </p:nvSpPr>
        <p:spPr>
          <a:xfrm>
            <a:off x="394626" y="1143084"/>
            <a:ext cx="8355423" cy="4946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700" spc="150" dirty="0">
                <a:solidFill>
                  <a:srgbClr val="023E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国际化语言开发环境工作流程</a:t>
            </a:r>
            <a:endParaRPr lang="zh-CN" altLang="en-US" sz="2700" spc="150" dirty="0">
              <a:solidFill>
                <a:srgbClr val="023E9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246" name="页脚占位符 6"/>
          <p:cNvSpPr txBox="1">
            <a:spLocks noGrp="1"/>
          </p:cNvSpPr>
          <p:nvPr/>
        </p:nvSpPr>
        <p:spPr>
          <a:xfrm>
            <a:off x="2819400" y="6248400"/>
            <a:ext cx="38100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altLang="zh-CN" sz="900" dirty="0"/>
              <a:t>Copyright © Sieyuan Electric Co., Ltd. All Rights Reserved. </a:t>
            </a:r>
            <a:r>
              <a:rPr lang="zh-CN" altLang="en-US" sz="900" dirty="0"/>
              <a:t>密级：保密</a:t>
            </a:r>
            <a:endParaRPr lang="en-US" altLang="zh-CN" sz="900" dirty="0"/>
          </a:p>
        </p:txBody>
      </p:sp>
      <p:sp>
        <p:nvSpPr>
          <p:cNvPr id="9" name="Rectangle 2"/>
          <p:cNvSpPr>
            <a:spLocks noGrp="1" noChangeArrowheads="1"/>
          </p:cNvSpPr>
          <p:nvPr/>
        </p:nvSpPr>
        <p:spPr>
          <a:xfrm>
            <a:off x="50800" y="152400"/>
            <a:ext cx="6578600" cy="639763"/>
          </a:xfr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平台设计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操作流程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2322195"/>
            <a:ext cx="8587105" cy="324104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/>
          <p:nvPr/>
        </p:nvSpPr>
        <p:spPr>
          <a:xfrm>
            <a:off x="394626" y="1143084"/>
            <a:ext cx="8355423" cy="4946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700" spc="150" dirty="0">
                <a:solidFill>
                  <a:srgbClr val="023E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登录</a:t>
            </a:r>
            <a:r>
              <a:rPr lang="en-US" altLang="zh-CN" sz="2700" spc="150" dirty="0">
                <a:solidFill>
                  <a:srgbClr val="023E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&amp; </a:t>
            </a:r>
            <a:r>
              <a:rPr lang="zh-CN" altLang="en-US" sz="2700" spc="150" dirty="0">
                <a:solidFill>
                  <a:srgbClr val="023E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工作台</a:t>
            </a:r>
            <a:endParaRPr lang="zh-CN" altLang="en-US" sz="2700" spc="150" dirty="0">
              <a:solidFill>
                <a:srgbClr val="023E9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5800" y="4572000"/>
            <a:ext cx="778827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l"/>
            <a:r>
              <a:rPr lang="zh-CN" sz="16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工作台进行待办任务进行词条导入、词条审核、词条翻译、翻译审核、词条归档等操作，以及已办的任务查看</a:t>
            </a:r>
            <a:endParaRPr lang="zh-CN" sz="16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246" name="页脚占位符 6"/>
          <p:cNvSpPr txBox="1">
            <a:spLocks noGrp="1"/>
          </p:cNvSpPr>
          <p:nvPr/>
        </p:nvSpPr>
        <p:spPr>
          <a:xfrm>
            <a:off x="2819400" y="6248400"/>
            <a:ext cx="38100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altLang="zh-CN" sz="900" dirty="0"/>
              <a:t>Copyright © Sieyuan Electric Co., Ltd. All Rights Reserved. </a:t>
            </a:r>
            <a:r>
              <a:rPr lang="zh-CN" altLang="en-US" sz="900" dirty="0"/>
              <a:t>密级：保密</a:t>
            </a:r>
            <a:endParaRPr lang="en-US" altLang="zh-CN" sz="900" dirty="0"/>
          </a:p>
        </p:txBody>
      </p:sp>
      <p:sp>
        <p:nvSpPr>
          <p:cNvPr id="9" name="Rectangle 2"/>
          <p:cNvSpPr>
            <a:spLocks noGrp="1" noChangeArrowheads="1"/>
          </p:cNvSpPr>
          <p:nvPr/>
        </p:nvSpPr>
        <p:spPr>
          <a:xfrm>
            <a:off x="50800" y="152400"/>
            <a:ext cx="6578600" cy="639763"/>
          </a:xfr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登录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2057400"/>
            <a:ext cx="3807460" cy="20008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925" y="2057400"/>
            <a:ext cx="4004310" cy="1943735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/>
          <p:nvPr/>
        </p:nvSpPr>
        <p:spPr>
          <a:xfrm>
            <a:off x="394626" y="1143084"/>
            <a:ext cx="8355423" cy="4946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700" spc="150" dirty="0">
                <a:solidFill>
                  <a:srgbClr val="023E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词条管理</a:t>
            </a:r>
            <a:endParaRPr lang="zh-CN" altLang="en-US" sz="2700" spc="150" dirty="0">
              <a:solidFill>
                <a:srgbClr val="023E9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762000" y="4810760"/>
            <a:ext cx="752538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l"/>
            <a:r>
              <a:rPr lang="zh-CN" sz="1600" b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词条管理可以对词条进行查看、修改、回写等操作，同时可以针对产品查看产品版本以及任务列表查看</a:t>
            </a:r>
            <a:endParaRPr lang="zh-CN" sz="1600" b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10246" name="页脚占位符 6"/>
          <p:cNvSpPr txBox="1">
            <a:spLocks noGrp="1"/>
          </p:cNvSpPr>
          <p:nvPr/>
        </p:nvSpPr>
        <p:spPr>
          <a:xfrm>
            <a:off x="2819400" y="6248400"/>
            <a:ext cx="38100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altLang="zh-CN" sz="900" dirty="0"/>
              <a:t>Copyright © Sieyuan Electric Co., Ltd. All Rights Reserved. </a:t>
            </a:r>
            <a:r>
              <a:rPr lang="zh-CN" altLang="en-US" sz="900" dirty="0"/>
              <a:t>密级：保密</a:t>
            </a:r>
            <a:endParaRPr lang="en-US" altLang="zh-CN" sz="900" dirty="0"/>
          </a:p>
        </p:txBody>
      </p:sp>
      <p:sp>
        <p:nvSpPr>
          <p:cNvPr id="9" name="Rectangle 2"/>
          <p:cNvSpPr>
            <a:spLocks noGrp="1" noChangeArrowheads="1"/>
          </p:cNvSpPr>
          <p:nvPr/>
        </p:nvSpPr>
        <p:spPr>
          <a:xfrm>
            <a:off x="50800" y="152400"/>
            <a:ext cx="6578600" cy="639763"/>
          </a:xfr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词条管理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81200"/>
            <a:ext cx="3842385" cy="18649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981200"/>
            <a:ext cx="3832860" cy="183515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/>
          <p:nvPr/>
        </p:nvSpPr>
        <p:spPr>
          <a:xfrm>
            <a:off x="394626" y="1143084"/>
            <a:ext cx="8355423" cy="4946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700" spc="150" dirty="0">
                <a:solidFill>
                  <a:srgbClr val="023E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配置管理</a:t>
            </a:r>
            <a:endParaRPr lang="zh-CN" altLang="en-US" sz="2700" spc="150" dirty="0">
              <a:solidFill>
                <a:srgbClr val="023E9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52400" y="4343400"/>
            <a:ext cx="5080000" cy="3371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0" algn="l"/>
            <a:r>
              <a:rPr lang="zh-CN" sz="1600" b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配置管理可以进行任务的创建以及用户权限分配</a:t>
            </a:r>
            <a:endParaRPr lang="zh-CN" sz="1600" b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10246" name="页脚占位符 6"/>
          <p:cNvSpPr txBox="1">
            <a:spLocks noGrp="1"/>
          </p:cNvSpPr>
          <p:nvPr/>
        </p:nvSpPr>
        <p:spPr>
          <a:xfrm>
            <a:off x="2819400" y="6248400"/>
            <a:ext cx="38100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altLang="zh-CN" sz="900" dirty="0"/>
              <a:t>Copyright © Sieyuan Electric Co., Ltd. All Rights Reserved. </a:t>
            </a:r>
            <a:r>
              <a:rPr lang="zh-CN" altLang="en-US" sz="900" dirty="0"/>
              <a:t>密级：保密</a:t>
            </a:r>
            <a:endParaRPr lang="en-US" altLang="zh-CN" sz="900" dirty="0"/>
          </a:p>
        </p:txBody>
      </p:sp>
      <p:sp>
        <p:nvSpPr>
          <p:cNvPr id="9" name="Rectangle 2"/>
          <p:cNvSpPr>
            <a:spLocks noGrp="1" noChangeArrowheads="1"/>
          </p:cNvSpPr>
          <p:nvPr/>
        </p:nvSpPr>
        <p:spPr>
          <a:xfrm>
            <a:off x="50800" y="152400"/>
            <a:ext cx="6578600" cy="639763"/>
          </a:xfr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配置管理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676400"/>
            <a:ext cx="3962400" cy="19234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76400"/>
            <a:ext cx="3982720" cy="1906905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457200" y="1143000"/>
            <a:ext cx="7989570" cy="375666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0" indent="0" algn="l"/>
            <a:r>
              <a:rPr 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目前已对产品包的需求完成</a:t>
            </a:r>
            <a:r>
              <a:rPr lang="en-US" altLang="zh-CN" sz="240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100%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indent="0" algn="l"/>
            <a:endParaRPr lang="en-US" altLang="zh-CN" sz="1600" b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indent="0" algn="l"/>
            <a:r>
              <a:rPr lang="zh-CN" altLang="en-US" sz="1600" b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支持管理多语言词条</a:t>
            </a:r>
            <a:r>
              <a:rPr lang="en-US" altLang="zh-CN" sz="1600" b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—— </a:t>
            </a:r>
            <a:r>
              <a:rPr lang="zh-CN" altLang="en-US" sz="1600" b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支持不同语种翻译</a:t>
            </a:r>
            <a:r>
              <a:rPr lang="en-US" altLang="zh-CN" sz="1600" b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				</a:t>
            </a:r>
            <a:r>
              <a:rPr lang="en-US" altLang="zh-CN" sz="1600" b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√</a:t>
            </a:r>
            <a:endParaRPr lang="zh-CN" altLang="en-US" sz="1600" b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indent="0" algn="l"/>
            <a:endParaRPr lang="zh-CN" altLang="en-US" sz="1600" b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indent="0" algn="l"/>
            <a:r>
              <a:rPr lang="zh-CN" altLang="en-US" sz="1600" b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支持词条自动翻译</a:t>
            </a:r>
            <a:r>
              <a:rPr lang="en-US" altLang="zh-CN" sz="1600" b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   —— </a:t>
            </a:r>
            <a:r>
              <a:rPr lang="zh-CN" altLang="en-US" sz="1600" b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支持预翻译、翻译推荐、手动修改、翻译导入</a:t>
            </a:r>
            <a:r>
              <a:rPr lang="en-US" altLang="zh-CN" sz="1600" b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	</a:t>
            </a:r>
            <a:r>
              <a:rPr lang="en-US" altLang="zh-CN" sz="1600" b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√</a:t>
            </a:r>
            <a:endParaRPr lang="zh-CN" altLang="en-US" sz="1600" b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indent="0" algn="l"/>
            <a:endParaRPr lang="zh-CN" altLang="en-US" sz="1600" b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indent="0" algn="l"/>
            <a:r>
              <a:rPr lang="zh-CN" altLang="en-US" sz="1600" b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支持对接海外装置</a:t>
            </a:r>
            <a:r>
              <a:rPr lang="en-US" altLang="zh-CN" sz="1600" b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   —— </a:t>
            </a:r>
            <a:r>
              <a:rPr lang="zh-CN" altLang="en-US" sz="1600" b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已经支持</a:t>
            </a:r>
            <a:r>
              <a:rPr lang="en-US" altLang="zh-CN" sz="1600" b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					</a:t>
            </a:r>
            <a:r>
              <a:rPr lang="en-US" altLang="zh-CN" sz="1600" b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√</a:t>
            </a:r>
            <a:endParaRPr lang="zh-CN" altLang="en-US" sz="1600" b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indent="0" algn="l"/>
            <a:endParaRPr lang="zh-CN" altLang="en-US" sz="1600" b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indent="0" algn="l"/>
            <a:r>
              <a:rPr lang="zh-CN" altLang="en-US" sz="1600" b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支持对接新平台</a:t>
            </a:r>
            <a:r>
              <a:rPr lang="en-US" altLang="zh-CN" sz="1600" b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	  —— </a:t>
            </a:r>
            <a:r>
              <a:rPr lang="zh-CN" altLang="en-US" sz="1600" b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已在新平台英文版</a:t>
            </a:r>
            <a:r>
              <a:rPr lang="zh-CN" altLang="en-US" sz="1600" b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中使用</a:t>
            </a:r>
            <a:r>
              <a:rPr lang="en-US" altLang="zh-CN" sz="1600" b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			</a:t>
            </a:r>
            <a:r>
              <a:rPr lang="en-US" altLang="zh-CN" sz="1600" b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√</a:t>
            </a:r>
            <a:endParaRPr lang="zh-CN" altLang="en-US" sz="1600" b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indent="0" algn="l"/>
            <a:endParaRPr lang="zh-CN" altLang="en-US" sz="1600" b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10246" name="页脚占位符 6"/>
          <p:cNvSpPr txBox="1">
            <a:spLocks noGrp="1"/>
          </p:cNvSpPr>
          <p:nvPr/>
        </p:nvSpPr>
        <p:spPr>
          <a:xfrm>
            <a:off x="2819400" y="6248400"/>
            <a:ext cx="38100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altLang="zh-CN" sz="900" dirty="0"/>
              <a:t>Copyright © Sieyuan Electric Co., Ltd. All Rights Reserved. </a:t>
            </a:r>
            <a:r>
              <a:rPr lang="zh-CN" altLang="en-US" sz="900" dirty="0"/>
              <a:t>密级：保密</a:t>
            </a:r>
            <a:endParaRPr lang="en-US" altLang="zh-CN" sz="900" dirty="0"/>
          </a:p>
        </p:txBody>
      </p:sp>
      <p:sp>
        <p:nvSpPr>
          <p:cNvPr id="9" name="Rectangle 2"/>
          <p:cNvSpPr>
            <a:spLocks noGrp="1" noChangeArrowheads="1"/>
          </p:cNvSpPr>
          <p:nvPr/>
        </p:nvSpPr>
        <p:spPr>
          <a:xfrm>
            <a:off x="50800" y="152400"/>
            <a:ext cx="6578600" cy="639763"/>
          </a:xfr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产品包需求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完成度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AutoShape 2"/>
          <p:cNvSpPr>
            <a:spLocks noChangeArrowheads="1"/>
          </p:cNvSpPr>
          <p:nvPr/>
        </p:nvSpPr>
        <p:spPr bwMode="gray">
          <a:xfrm>
            <a:off x="1066800" y="1371600"/>
            <a:ext cx="522288" cy="4572000"/>
          </a:xfrm>
          <a:prstGeom prst="roundRect">
            <a:avLst>
              <a:gd name="adj" fmla="val 16667"/>
            </a:avLst>
          </a:prstGeom>
          <a:solidFill>
            <a:srgbClr val="CBCDDF"/>
          </a:solidFill>
          <a:ln w="3175">
            <a:noFill/>
            <a:round/>
          </a:ln>
        </p:spPr>
        <p:txBody>
          <a:bodyPr wrap="none" lIns="90000" tIns="46800" rIns="90000" bIns="46800" anchor="ctr"/>
          <a:lstStyle/>
          <a:p>
            <a:pPr>
              <a:buFontTx/>
              <a:buChar char="•"/>
            </a:pPr>
            <a:endParaRPr lang="zh-CN" altLang="zh-CN" sz="900" i="1">
              <a:solidFill>
                <a:srgbClr val="120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4" name="灯片编号占位符 4"/>
          <p:cNvSpPr txBox="1">
            <a:spLocks noGrp="1"/>
          </p:cNvSpPr>
          <p:nvPr/>
        </p:nvSpPr>
        <p:spPr bwMode="auto">
          <a:xfrm>
            <a:off x="8153400" y="6245225"/>
            <a:ext cx="5334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r">
              <a:spcBef>
                <a:spcPct val="0"/>
              </a:spcBef>
              <a:buClrTx/>
              <a:buFontTx/>
              <a:buNone/>
            </a:pPr>
            <a:fld id="{5DEB0B31-78B2-4220-88E1-7694F8D03A4E}" type="slidenum"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z="18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0800" y="152400"/>
            <a:ext cx="6578600" cy="639763"/>
          </a:xfrm>
        </p:spPr>
        <p:txBody>
          <a:bodyPr/>
          <a:lstStyle/>
          <a:p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目  录</a:t>
            </a:r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6" name="AutoShape 8"/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1270000" y="114300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0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7" name="AutoShape 8"/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1270000" y="51625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8" name="AutoShape 6">
            <a:hlinkClick r:id="rId3" action="ppaction://hlinksldjump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2108200" y="5143500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Q&amp;A</a:t>
            </a:r>
            <a:endParaRPr lang="en-US" altLang="zh-CN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9" name="AutoShape 8"/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1260475" y="17843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AutoShape 6">
            <a:hlinkClick r:id="rId3" action="ppaction://hlinksldjump"/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2098675" y="1177925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项目管理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1" name="AutoShape 8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1270000" y="312420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0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2" name="AutoShape 6">
            <a:hlinkClick r:id="rId3" action="ppaction://hlinksldjump"/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2108200" y="1808163"/>
            <a:ext cx="5953125" cy="554037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质量管理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3" name="AutoShape 6">
            <a:hlinkClick r:id="rId3" action="ppaction://hlinksldjump"/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gray">
          <a:xfrm>
            <a:off x="2108200" y="3125787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财务指标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4" name="AutoShape 8"/>
          <p:cNvSpPr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1270000" y="243840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5" name="AutoShape 6">
            <a:hlinkClick r:id="rId3" action="ppaction://hlinksldjump"/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gray">
          <a:xfrm>
            <a:off x="2117725" y="2452688"/>
            <a:ext cx="5953125" cy="554037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项目迁移计划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6" name="AutoShape 8"/>
          <p:cNvSpPr>
            <a:spLocks noChangeArrowheads="1"/>
          </p:cNvSpPr>
          <p:nvPr>
            <p:custDataLst>
              <p:tags r:id="rId12"/>
            </p:custDataLst>
          </p:nvPr>
        </p:nvSpPr>
        <p:spPr bwMode="gray">
          <a:xfrm>
            <a:off x="1270000" y="37909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7" name="AutoShape 6">
            <a:hlinkClick r:id="rId3" action="ppaction://hlinksldjump"/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gray">
          <a:xfrm>
            <a:off x="2117725" y="3783012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技术评审相关内容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8"/>
          <p:cNvSpPr>
            <a:spLocks noChangeArrowheads="1"/>
          </p:cNvSpPr>
          <p:nvPr>
            <p:custDataLst>
              <p:tags r:id="rId14"/>
            </p:custDataLst>
          </p:nvPr>
        </p:nvSpPr>
        <p:spPr bwMode="gray">
          <a:xfrm>
            <a:off x="1276350" y="44767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6">
            <a:hlinkClick r:id="rId3" action="ppaction://hlinksldjump"/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gray">
          <a:xfrm>
            <a:off x="2124075" y="4468812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28288A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遗留问题的状态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6" name="页脚占位符 6"/>
          <p:cNvSpPr txBox="1">
            <a:spLocks noGrp="1"/>
          </p:cNvSpPr>
          <p:nvPr/>
        </p:nvSpPr>
        <p:spPr>
          <a:xfrm>
            <a:off x="2819400" y="6248400"/>
            <a:ext cx="38100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altLang="zh-CN" sz="900" dirty="0"/>
              <a:t>Copyright © Sieyuan Electric Co., Ltd. All Rights Reserved. </a:t>
            </a:r>
            <a:r>
              <a:rPr lang="zh-CN" altLang="en-US" sz="900" dirty="0"/>
              <a:t>密级：保密</a:t>
            </a:r>
            <a:endParaRPr lang="en-US" altLang="zh-CN" sz="900" dirty="0"/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灯片编号占位符 4"/>
          <p:cNvSpPr txBox="1">
            <a:spLocks noGrp="1"/>
          </p:cNvSpPr>
          <p:nvPr/>
        </p:nvSpPr>
        <p:spPr bwMode="auto">
          <a:xfrm>
            <a:off x="8001000" y="6245225"/>
            <a:ext cx="6858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r">
              <a:spcBef>
                <a:spcPct val="0"/>
              </a:spcBef>
              <a:buClrTx/>
              <a:buFontTx/>
              <a:buNone/>
            </a:pPr>
            <a:fld id="{E8FBAD78-271E-4C52-BE69-9F3293CA284A}" type="slidenum"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z="18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38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0800" y="152400"/>
            <a:ext cx="6578600" cy="639763"/>
          </a:xfrm>
        </p:spPr>
        <p:txBody>
          <a:bodyPr/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遗留问题的状态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609600" y="1066800"/>
            <a:ext cx="8077200" cy="369888"/>
          </a:xfrm>
          <a:prstGeom prst="rect">
            <a:avLst/>
          </a:prstGeom>
          <a:noFill/>
          <a:ln w="9525" algn="ctr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28600" y="990600"/>
            <a:ext cx="2468880" cy="1014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计划阶段遗留问题：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6" name="页脚占位符 6"/>
          <p:cNvSpPr txBox="1">
            <a:spLocks noGrp="1"/>
          </p:cNvSpPr>
          <p:nvPr/>
        </p:nvSpPr>
        <p:spPr>
          <a:xfrm>
            <a:off x="2819400" y="6248400"/>
            <a:ext cx="38100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altLang="zh-CN" sz="900" dirty="0"/>
              <a:t>Copyright © Sieyuan Electric Co., Ltd. All Rights Reserved. </a:t>
            </a:r>
            <a:r>
              <a:rPr lang="zh-CN" altLang="en-US" sz="900" dirty="0"/>
              <a:t>密级：保密</a:t>
            </a:r>
            <a:endParaRPr lang="en-US" altLang="zh-CN" sz="900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AutoShape 2"/>
          <p:cNvSpPr>
            <a:spLocks noChangeArrowheads="1"/>
          </p:cNvSpPr>
          <p:nvPr/>
        </p:nvSpPr>
        <p:spPr bwMode="gray">
          <a:xfrm>
            <a:off x="1066800" y="1371600"/>
            <a:ext cx="522288" cy="4572000"/>
          </a:xfrm>
          <a:prstGeom prst="roundRect">
            <a:avLst>
              <a:gd name="adj" fmla="val 16667"/>
            </a:avLst>
          </a:prstGeom>
          <a:solidFill>
            <a:srgbClr val="CBCDDF"/>
          </a:solidFill>
          <a:ln w="3175">
            <a:noFill/>
            <a:round/>
          </a:ln>
        </p:spPr>
        <p:txBody>
          <a:bodyPr wrap="none" lIns="90000" tIns="46800" rIns="90000" bIns="46800" anchor="ctr"/>
          <a:lstStyle/>
          <a:p>
            <a:pPr>
              <a:buFontTx/>
              <a:buChar char="•"/>
            </a:pPr>
            <a:endParaRPr lang="zh-CN" altLang="zh-CN" sz="900" i="1">
              <a:solidFill>
                <a:srgbClr val="120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4" name="灯片编号占位符 4"/>
          <p:cNvSpPr txBox="1">
            <a:spLocks noGrp="1"/>
          </p:cNvSpPr>
          <p:nvPr/>
        </p:nvSpPr>
        <p:spPr bwMode="auto">
          <a:xfrm>
            <a:off x="8153400" y="6245225"/>
            <a:ext cx="5334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r">
              <a:spcBef>
                <a:spcPct val="0"/>
              </a:spcBef>
              <a:buClrTx/>
              <a:buFontTx/>
              <a:buNone/>
            </a:pPr>
            <a:fld id="{5DEB0B31-78B2-4220-88E1-7694F8D03A4E}" type="slidenum"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z="18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0800" y="152400"/>
            <a:ext cx="6578600" cy="639763"/>
          </a:xfrm>
        </p:spPr>
        <p:txBody>
          <a:bodyPr/>
          <a:lstStyle/>
          <a:p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目  录</a:t>
            </a:r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6" name="AutoShape 8"/>
          <p:cNvSpPr>
            <a:spLocks noChangeArrowheads="1"/>
          </p:cNvSpPr>
          <p:nvPr/>
        </p:nvSpPr>
        <p:spPr bwMode="gray">
          <a:xfrm>
            <a:off x="1270000" y="114300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0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7" name="AutoShape 8"/>
          <p:cNvSpPr>
            <a:spLocks noChangeArrowheads="1"/>
          </p:cNvSpPr>
          <p:nvPr/>
        </p:nvSpPr>
        <p:spPr bwMode="gray">
          <a:xfrm>
            <a:off x="1270000" y="51625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8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08200" y="5143500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28288A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Q&amp;A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9" name="AutoShape 8"/>
          <p:cNvSpPr>
            <a:spLocks noChangeArrowheads="1"/>
          </p:cNvSpPr>
          <p:nvPr/>
        </p:nvSpPr>
        <p:spPr bwMode="gray">
          <a:xfrm>
            <a:off x="1260475" y="17843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098675" y="1177925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项目管理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1" name="AutoShape 8"/>
          <p:cNvSpPr>
            <a:spLocks noChangeArrowheads="1"/>
          </p:cNvSpPr>
          <p:nvPr/>
        </p:nvSpPr>
        <p:spPr bwMode="gray">
          <a:xfrm>
            <a:off x="1270000" y="312420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000" i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2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08200" y="1808163"/>
            <a:ext cx="5953125" cy="554037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质量管理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3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08200" y="3125787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财务指标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4" name="AutoShape 8"/>
          <p:cNvSpPr>
            <a:spLocks noChangeArrowheads="1"/>
          </p:cNvSpPr>
          <p:nvPr/>
        </p:nvSpPr>
        <p:spPr bwMode="gray">
          <a:xfrm>
            <a:off x="1270000" y="243840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5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17725" y="2452688"/>
            <a:ext cx="5953125" cy="554037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项目迁移计划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6" name="AutoShape 8"/>
          <p:cNvSpPr>
            <a:spLocks noChangeArrowheads="1"/>
          </p:cNvSpPr>
          <p:nvPr/>
        </p:nvSpPr>
        <p:spPr bwMode="gray">
          <a:xfrm>
            <a:off x="1270000" y="37909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97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17725" y="3783012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技术评审相关内容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8"/>
          <p:cNvSpPr>
            <a:spLocks noChangeArrowheads="1"/>
          </p:cNvSpPr>
          <p:nvPr/>
        </p:nvSpPr>
        <p:spPr bwMode="gray">
          <a:xfrm>
            <a:off x="1276350" y="4476750"/>
            <a:ext cx="627063" cy="552450"/>
          </a:xfrm>
          <a:prstGeom prst="roundRect">
            <a:avLst>
              <a:gd name="adj" fmla="val 16667"/>
            </a:avLst>
          </a:prstGeom>
          <a:solidFill>
            <a:srgbClr val="FF8913"/>
          </a:solidFill>
          <a:ln w="3175">
            <a:solidFill>
              <a:srgbClr val="FF9900"/>
            </a:solidFill>
            <a:round/>
          </a:ln>
        </p:spPr>
        <p:txBody>
          <a:bodyPr wrap="none" lIns="90000" tIns="46800" rIns="90000" bIns="46800" anchor="ctr"/>
          <a:lstStyle/>
          <a:p>
            <a:pPr algn="ctr" eaLnBrk="0" hangingPunct="0">
              <a:lnSpc>
                <a:spcPct val="90000"/>
              </a:lnSpc>
              <a:buClr>
                <a:srgbClr val="99CC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en-US" altLang="zh-CN" sz="2000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124075" y="4468812"/>
            <a:ext cx="5953125" cy="554038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遗留问题的状态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6" name="页脚占位符 6"/>
          <p:cNvSpPr txBox="1">
            <a:spLocks noGrp="1"/>
          </p:cNvSpPr>
          <p:nvPr/>
        </p:nvSpPr>
        <p:spPr>
          <a:xfrm>
            <a:off x="2819400" y="6248400"/>
            <a:ext cx="38100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altLang="zh-CN" sz="900" dirty="0"/>
              <a:t>Copyright © Sieyuan Electric Co., Ltd. All Rights Reserved. </a:t>
            </a:r>
            <a:r>
              <a:rPr lang="zh-CN" altLang="en-US" sz="900" dirty="0"/>
              <a:t>密级：保密</a:t>
            </a:r>
            <a:endParaRPr lang="en-US" altLang="zh-CN" sz="900" dirty="0"/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AutoShape 2"/>
          <p:cNvSpPr>
            <a:spLocks noChangeArrowheads="1"/>
          </p:cNvSpPr>
          <p:nvPr/>
        </p:nvSpPr>
        <p:spPr bwMode="gray">
          <a:xfrm>
            <a:off x="1066800" y="1371600"/>
            <a:ext cx="522288" cy="457200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>
            <a:noFill/>
            <a:round/>
          </a:ln>
        </p:spPr>
        <p:txBody>
          <a:bodyPr wrap="none" lIns="90000" tIns="46800" rIns="90000" bIns="46800" anchor="ctr"/>
          <a:lstStyle/>
          <a:p>
            <a:pPr>
              <a:buFontTx/>
              <a:buChar char="•"/>
            </a:pPr>
            <a:endParaRPr lang="zh-CN" altLang="zh-CN" sz="900" i="1">
              <a:solidFill>
                <a:srgbClr val="120C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436" name="灯片编号占位符 4"/>
          <p:cNvSpPr txBox="1">
            <a:spLocks noGrp="1"/>
          </p:cNvSpPr>
          <p:nvPr/>
        </p:nvSpPr>
        <p:spPr bwMode="auto">
          <a:xfrm>
            <a:off x="8153400" y="6245225"/>
            <a:ext cx="5334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r">
              <a:spcBef>
                <a:spcPct val="0"/>
              </a:spcBef>
              <a:buClrTx/>
              <a:buFontTx/>
              <a:buNone/>
            </a:pPr>
            <a:fld id="{234DB365-C324-4DAB-BEAD-8FBC7F729F7A}" type="slidenum"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z="18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437" name="AutoShape 6">
            <a:hlinkClick r:id="rId1" action="ppaction://hlinksldjump"/>
          </p:cNvPr>
          <p:cNvSpPr>
            <a:spLocks noChangeArrowheads="1"/>
          </p:cNvSpPr>
          <p:nvPr/>
        </p:nvSpPr>
        <p:spPr bwMode="gray">
          <a:xfrm>
            <a:off x="2209800" y="3276600"/>
            <a:ext cx="5953125" cy="1447800"/>
          </a:xfrm>
          <a:prstGeom prst="roundRect">
            <a:avLst>
              <a:gd name="adj" fmla="val 16667"/>
            </a:avLst>
          </a:prstGeom>
          <a:solidFill>
            <a:srgbClr val="28288A"/>
          </a:solidFill>
          <a:ln w="3175" algn="ctr">
            <a:noFill/>
            <a:round/>
          </a:ln>
        </p:spPr>
        <p:txBody>
          <a:bodyPr wrap="none" lIns="90000" tIns="46800" rIns="90000" bIns="46800" anchor="ctr"/>
          <a:lstStyle/>
          <a:p>
            <a:pPr eaLnBrk="0" hangingPunct="0">
              <a:spcBef>
                <a:spcPct val="40000"/>
              </a:spcBef>
              <a:buClr>
                <a:srgbClr val="EB8B18"/>
              </a:buClr>
              <a:buFontTx/>
              <a:buChar char="•"/>
            </a:pPr>
            <a:r>
              <a:rPr lang="en-US" altLang="zh-CN" sz="5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Q&amp;A</a:t>
            </a:r>
            <a:endParaRPr lang="en-US" altLang="zh-CN" sz="5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6" name="页脚占位符 6"/>
          <p:cNvSpPr txBox="1">
            <a:spLocks noGrp="1"/>
          </p:cNvSpPr>
          <p:nvPr/>
        </p:nvSpPr>
        <p:spPr>
          <a:xfrm>
            <a:off x="2819400" y="6248400"/>
            <a:ext cx="38100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altLang="zh-CN" sz="900" dirty="0"/>
              <a:t>Copyright © Sieyuan Electric Co., Ltd. All Rights Reserved. </a:t>
            </a:r>
            <a:r>
              <a:rPr lang="zh-CN" altLang="en-US" sz="900" dirty="0"/>
              <a:t>密级：保密</a:t>
            </a:r>
            <a:endParaRPr lang="en-US" altLang="zh-CN" sz="900" dirty="0"/>
          </a:p>
        </p:txBody>
      </p:sp>
      <p:sp>
        <p:nvSpPr>
          <p:cNvPr id="9" name="Rectangle 2"/>
          <p:cNvSpPr>
            <a:spLocks noGrp="1" noChangeArrowheads="1"/>
          </p:cNvSpPr>
          <p:nvPr/>
        </p:nvSpPr>
        <p:spPr>
          <a:xfrm>
            <a:off x="50800" y="152400"/>
            <a:ext cx="6578600" cy="639763"/>
          </a:xfr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Q&amp;A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5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 altLang="zh-CN" sz="1000">
              <a:ea typeface="宋体" panose="02010600030101010101" pitchFamily="2" charset="-122"/>
            </a:endParaRPr>
          </a:p>
          <a:p>
            <a:r>
              <a:rPr lang="en-US" altLang="zh-CN" sz="1000">
                <a:ea typeface="宋体" panose="02010600030101010101" pitchFamily="2" charset="-122"/>
              </a:rPr>
              <a:t>Copyright © Sieyuan Electric Co., Ltd. All Rights Reserved.</a:t>
            </a:r>
            <a:endParaRPr kumimoji="1" lang="en-US" altLang="zh-CN" sz="1000">
              <a:ea typeface="宋体" panose="02010600030101010101" pitchFamily="2" charset="-122"/>
            </a:endParaRPr>
          </a:p>
        </p:txBody>
      </p:sp>
      <p:pic>
        <p:nvPicPr>
          <p:cNvPr id="147459" name="Picture 7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0"/>
            <a:ext cx="1828800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3505200" y="1828800"/>
            <a:ext cx="3733800" cy="914400"/>
          </a:xfrm>
          <a:prstGeom prst="rect">
            <a:avLst/>
          </a:prstGeom>
          <a:noFill/>
          <a:ln w="9525" algn="ctr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5400">
                <a:latin typeface="华文彩云" pitchFamily="2" charset="-122"/>
                <a:ea typeface="华文彩云" pitchFamily="2" charset="-122"/>
              </a:rPr>
              <a:t>谢  谢 ！</a:t>
            </a:r>
            <a:endParaRPr lang="zh-CN" altLang="en-US" sz="5400">
              <a:latin typeface="华文彩云" pitchFamily="2" charset="-122"/>
              <a:ea typeface="华文彩云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TABLE_BEAUTIFY" val="smartTable{d93d3e48-7d54-43ce-9519-e4afff41d51c}"/>
  <p:tag name="TABLE_ENDDRAG_ORIGIN_RECT" val="659*271"/>
  <p:tag name="TABLE_ENDDRAG_RECT" val="36*190*659*271"/>
</p:tagLst>
</file>

<file path=ppt/tags/tag2.xml><?xml version="1.0" encoding="utf-8"?>
<p:tagLst xmlns:p="http://schemas.openxmlformats.org/presentationml/2006/main">
  <p:tag name="KSO_WM_UNIT_TABLE_BEAUTIFY" val="smartTable{ab632591-ed47-478b-88e1-d0522ecce453}"/>
</p:tagLst>
</file>

<file path=ppt/tags/tag3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4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5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6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7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8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9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10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11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12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13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14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15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16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17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18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19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20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21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22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23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24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25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26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27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28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29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30.xml><?xml version="1.0" encoding="utf-8"?>
<p:tagLst xmlns:p="http://schemas.openxmlformats.org/presentationml/2006/main">
  <p:tag name="KSO_WM_DIAGRAM_VIRTUALLY_FRAME" val="{&quot;height&quot;:360,&quot;left&quot;:99.25,&quot;top&quot;:90,&quot;width&quot;:536.75}"/>
</p:tagLst>
</file>

<file path=ppt/tags/tag31.xml><?xml version="1.0" encoding="utf-8"?>
<p:tagLst xmlns:p="http://schemas.openxmlformats.org/presentationml/2006/main">
  <p:tag name="COMMONDATA" val="eyJoZGlkIjoiNTA2MjljM2I3ZGY5ODg2NDU3YzdkODk5OWZhNTAyNzMifQ=="/>
  <p:tag name="commondata" val="eyJoZGlkIjoiZDA0MWZlOGUzY2E4YTc0MzcwNTIwZDhkZTdmNzZiZTMifQ=="/>
</p:tagLst>
</file>

<file path=ppt/theme/theme1.xml><?xml version="1.0" encoding="utf-8"?>
<a:theme xmlns:a="http://schemas.openxmlformats.org/drawingml/2006/main" name="2_模版-NE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模版-NEW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1325A9"/>
        </a:solidFill>
        <a:ln w="9525">
          <a:noFill/>
          <a:miter lim="800000"/>
        </a:ln>
      </a:spPr>
      <a:bodyPr wrap="none" anchor="ctr"/>
      <a:lstStyle>
        <a:defPPr>
          <a:spcBef>
            <a:spcPct val="20000"/>
          </a:spcBef>
          <a:buClr>
            <a:srgbClr val="FF0000"/>
          </a:buClr>
          <a:buFont typeface="Wingdings" panose="05000000000000000000" pitchFamily="2" charset="2"/>
          <a:buChar char="v"/>
          <a:defRPr>
            <a:latin typeface="Arial" panose="020B0604020202020204" pitchFamily="34" charset="0"/>
          </a:defRPr>
        </a:defPPr>
      </a:lstStyle>
    </a:spDef>
    <a:lnDef>
      <a:spPr bwMode="auto">
        <a:noFill/>
        <a:ln w="41275" cap="flat" cmpd="sng" algn="ctr">
          <a:solidFill>
            <a:schemeClr val="tx1"/>
          </a:solidFill>
          <a:prstDash val="solid"/>
          <a:round/>
          <a:headEnd type="none" w="med" len="med"/>
          <a:tailEnd type="triangle"/>
        </a:ln>
      </a:spPr>
      <a:bodyPr/>
      <a:lstStyle/>
    </a:lnDef>
  </a:objectDefaults>
  <a:extraClrSchemeLst>
    <a:extraClrScheme>
      <a:clrScheme name="模版-NEW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版-NEW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版-NEW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版-NEW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版-NEW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版-NEW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版-NEW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版-NEW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版-NEW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版-NEW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版-NEW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版-NEW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模版-NE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模版-NEW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1325A9"/>
        </a:solidFill>
        <a:ln w="9525">
          <a:noFill/>
          <a:miter lim="800000"/>
        </a:ln>
      </a:spPr>
      <a:bodyPr wrap="none" anchor="ctr"/>
      <a:lstStyle>
        <a:defPPr>
          <a:spcBef>
            <a:spcPct val="20000"/>
          </a:spcBef>
          <a:buClr>
            <a:srgbClr val="FF0000"/>
          </a:buClr>
          <a:buFont typeface="Wingdings" panose="05000000000000000000" pitchFamily="2" charset="2"/>
          <a:buChar char="v"/>
          <a:defRPr>
            <a:latin typeface="Arial" panose="020B0604020202020204" pitchFamily="34" charset="0"/>
          </a:defRPr>
        </a:defPPr>
      </a:lstStyle>
    </a:spDef>
    <a:lnDef>
      <a:spPr bwMode="auto">
        <a:noFill/>
        <a:ln w="41275" cap="flat" cmpd="sng" algn="ctr">
          <a:solidFill>
            <a:schemeClr val="tx1"/>
          </a:solidFill>
          <a:prstDash val="solid"/>
          <a:round/>
          <a:headEnd type="none" w="med" len="med"/>
          <a:tailEnd type="triangle"/>
        </a:ln>
      </a:spPr>
      <a:bodyPr/>
      <a:lstStyle/>
    </a:lnDef>
  </a:objectDefaults>
  <a:extraClrSchemeLst>
    <a:extraClrScheme>
      <a:clrScheme name="模版-NEW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版-NEW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版-NEW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版-NEW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版-NEW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版-NEW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版-NEW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版-NEW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版-NEW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版-NEW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版-NEW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版-NEW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思源AB类研发项目整体状态报告（2016年6月）V1.0</Template>
  <TotalTime>0</TotalTime>
  <Words>3058</Words>
  <Application>WPS 演示</Application>
  <PresentationFormat>全屏显示(4:3)</PresentationFormat>
  <Paragraphs>471</Paragraphs>
  <Slides>25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Times New Roman</vt:lpstr>
      <vt:lpstr>黑体</vt:lpstr>
      <vt:lpstr>华文细黑</vt:lpstr>
      <vt:lpstr>Monotype Sorts</vt:lpstr>
      <vt:lpstr>Wingdings</vt:lpstr>
      <vt:lpstr>Arial Unicode MS</vt:lpstr>
      <vt:lpstr>华文彩云</vt:lpstr>
      <vt:lpstr>2_模版-NEW</vt:lpstr>
      <vt:lpstr>1_模版-NEW</vt:lpstr>
      <vt:lpstr>国际化语言开发环境 2024.11.13 </vt:lpstr>
      <vt:lpstr>目  录</vt:lpstr>
      <vt:lpstr>项目管理</vt:lpstr>
      <vt:lpstr>项目管理</vt:lpstr>
      <vt:lpstr>项目管理</vt:lpstr>
      <vt:lpstr>项目进度计划</vt:lpstr>
      <vt:lpstr>项目管理</vt:lpstr>
      <vt:lpstr>目  录</vt:lpstr>
      <vt:lpstr>质量管理</vt:lpstr>
      <vt:lpstr>目  录</vt:lpstr>
      <vt:lpstr>迁移计划</vt:lpstr>
      <vt:lpstr>目  录</vt:lpstr>
      <vt:lpstr>PowerPoint 演示文稿</vt:lpstr>
      <vt:lpstr>目  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目  录</vt:lpstr>
      <vt:lpstr>遗留问题的状态</vt:lpstr>
      <vt:lpstr>目  录</vt:lpstr>
      <vt:lpstr>PowerPoint 演示文稿</vt:lpstr>
      <vt:lpstr>PowerPoint 演示文稿</vt:lpstr>
    </vt:vector>
  </TitlesOfParts>
  <Company>思源电气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项目启动报告模板</dc:title>
  <dc:creator>总部技术管理部</dc:creator>
  <cp:lastModifiedBy>Mr.lover</cp:lastModifiedBy>
  <cp:revision>2704</cp:revision>
  <dcterms:created xsi:type="dcterms:W3CDTF">2022-12-29T08:30:00Z</dcterms:created>
  <dcterms:modified xsi:type="dcterms:W3CDTF">2024-11-15T00:57:01Z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2052-12.1.0.18608</vt:lpwstr>
  </property>
  <property fmtid="{D5CDD505-2E9C-101B-9397-08002B2CF9AE}" pid="4" name="ICV">
    <vt:lpwstr>9EF2CA5B2379490DB4E14E0822D70EF6_13</vt:lpwstr>
  </property>
</Properties>
</file>